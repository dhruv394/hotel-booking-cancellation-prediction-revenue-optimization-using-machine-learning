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notesSlides/notesSlide26.xml" ContentType="application/vnd.openxmlformats-officedocument.presentationml.notesSlide+xml"/>
  <Override PartName="/ppt/charts/chart14.xml" ContentType="application/vnd.openxmlformats-officedocument.drawingml.chart+xml"/>
  <Override PartName="/ppt/notesSlides/notesSlide27.xml" ContentType="application/vnd.openxmlformats-officedocument.presentationml.notesSlide+xml"/>
  <Override PartName="/ppt/charts/chart15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Bookings by Hotel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20B2A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A0E-4F7B-B100-2E2E02B474BD}"/>
              </c:ext>
            </c:extLst>
          </c:dPt>
          <c:dPt>
            <c:idx val="1"/>
            <c:invertIfNegative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A0E-4F7B-B100-2E2E02B474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Resort Hotel</c:v>
                </c:pt>
                <c:pt idx="1">
                  <c:v>City Hotel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33396</c:v>
                </c:pt>
                <c:pt idx="1">
                  <c:v>53833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0E-4F7B-B100-2E2E02B474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9D8-443E-B5AC-6A87C0B06CCA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9D8-443E-B5AC-6A87C0B06CC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89D8-443E-B5AC-6A87C0B06CC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89D8-443E-B5AC-6A87C0B06C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Not Canceled</c:v>
                </c:pt>
                <c:pt idx="1">
                  <c:v>Canceled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63437</c:v>
                </c:pt>
                <c:pt idx="1">
                  <c:v>24018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9D8-443E-B5AC-6A87C0B06C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Avg Lead Time vs. Cancellation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Lead Time (Days)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829-4250-B1A3-3882497E42F3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29-4250-B1A3-3882497E42F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Canceled</c:v>
                </c:pt>
                <c:pt idx="1">
                  <c:v>Canceled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29-4250-B1A3-3882497E42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Booking Volume by Month (After Cleaning)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37-420F-8127-77C2B5D096FF}"/>
              </c:ext>
            </c:extLst>
          </c:dPt>
          <c:dPt>
            <c:idx val="1"/>
            <c:invertIfNegative val="0"/>
            <c:bubble3D val="0"/>
            <c:spPr>
              <a:solidFill>
                <a:srgbClr val="1E4D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37-420F-8127-77C2B5D096FF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37-420F-8127-77C2B5D096FF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37-420F-8127-77C2B5D096FF}"/>
              </c:ext>
            </c:extLst>
          </c:dPt>
          <c:dPt>
            <c:idx val="4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37-420F-8127-77C2B5D096FF}"/>
              </c:ext>
            </c:extLst>
          </c:dPt>
          <c:dPt>
            <c:idx val="5"/>
            <c:invertIfNegative val="0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37-420F-8127-77C2B5D096FF}"/>
              </c:ext>
            </c:extLst>
          </c:dPt>
          <c:dPt>
            <c:idx val="6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637-420F-8127-77C2B5D096FF}"/>
              </c:ext>
            </c:extLst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637-420F-8127-77C2B5D096FF}"/>
              </c:ext>
            </c:extLst>
          </c:dPt>
          <c:dPt>
            <c:idx val="8"/>
            <c:invertIfNegative val="0"/>
            <c:bubble3D val="0"/>
            <c:spPr>
              <a:solidFill>
                <a:srgbClr val="6EE7B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637-420F-8127-77C2B5D096FF}"/>
              </c:ext>
            </c:extLst>
          </c:dPt>
          <c:dPt>
            <c:idx val="9"/>
            <c:invertIfNegative val="0"/>
            <c:bubble3D val="0"/>
            <c:spPr>
              <a:solidFill>
                <a:srgbClr val="A7F3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1637-420F-8127-77C2B5D096FF}"/>
              </c:ext>
            </c:extLst>
          </c:dPt>
          <c:dPt>
            <c:idx val="10"/>
            <c:invertIfNegative val="0"/>
            <c:bubble3D val="0"/>
            <c:spPr>
              <a:solidFill>
                <a:srgbClr val="D1FAE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1637-420F-8127-77C2B5D096FF}"/>
              </c:ext>
            </c:extLst>
          </c:dPt>
          <c:dPt>
            <c:idx val="11"/>
            <c:invertIfNegative val="0"/>
            <c:bubble3D val="0"/>
            <c:spPr>
              <a:solidFill>
                <a:srgbClr val="ECFD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1637-420F-8127-77C2B5D096FF}"/>
              </c:ext>
            </c:extLst>
          </c:dPt>
          <c:cat>
            <c:strRef>
              <c:f>Sheet1!$A$2:$A$13</c:f>
              <c:strCache>
                <c:ptCount val="12"/>
                <c:pt idx="0">
                  <c:v>Aug</c:v>
                </c:pt>
                <c:pt idx="1">
                  <c:v>Jul</c:v>
                </c:pt>
                <c:pt idx="2">
                  <c:v>May</c:v>
                </c:pt>
                <c:pt idx="3">
                  <c:v>Apr</c:v>
                </c:pt>
                <c:pt idx="4">
                  <c:v>Jun</c:v>
                </c:pt>
                <c:pt idx="5">
                  <c:v>Mar</c:v>
                </c:pt>
                <c:pt idx="6">
                  <c:v>Oct</c:v>
                </c:pt>
                <c:pt idx="7">
                  <c:v>Sep</c:v>
                </c:pt>
                <c:pt idx="8">
                  <c:v>Feb</c:v>
                </c:pt>
                <c:pt idx="9">
                  <c:v>Dec</c:v>
                </c:pt>
                <c:pt idx="10">
                  <c:v>Nov</c:v>
                </c:pt>
                <c:pt idx="11">
                  <c:v>Jan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11219</c:v>
                </c:pt>
                <c:pt idx="1">
                  <c:v>10224</c:v>
                </c:pt>
                <c:pt idx="2">
                  <c:v>8476</c:v>
                </c:pt>
                <c:pt idx="3">
                  <c:v>8055</c:v>
                </c:pt>
                <c:pt idx="4">
                  <c:v>7910</c:v>
                </c:pt>
                <c:pt idx="5">
                  <c:v>7025</c:v>
                </c:pt>
                <c:pt idx="6">
                  <c:v>7012</c:v>
                </c:pt>
                <c:pt idx="7">
                  <c:v>6832</c:v>
                </c:pt>
                <c:pt idx="8">
                  <c:v>5392</c:v>
                </c:pt>
                <c:pt idx="9">
                  <c:v>5125</c:v>
                </c:pt>
                <c:pt idx="10">
                  <c:v>5076</c:v>
                </c:pt>
                <c:pt idx="11">
                  <c:v>4883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1637-420F-8127-77C2B5D096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Bookings by Market Segment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Bookings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699-435A-BE57-0D206944C397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99-435A-BE57-0D206944C397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99-435A-BE57-0D206944C397}"/>
              </c:ext>
            </c:extLst>
          </c:dPt>
          <c:dPt>
            <c:idx val="3"/>
            <c:invertIfNegative val="0"/>
            <c:bubble3D val="0"/>
            <c:spPr>
              <a:solidFill>
                <a:srgbClr val="22D3E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99-435A-BE57-0D206944C397}"/>
              </c:ext>
            </c:extLst>
          </c:dPt>
          <c:dPt>
            <c:idx val="4"/>
            <c:invertIfNegative val="0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699-435A-BE57-0D206944C397}"/>
              </c:ext>
            </c:extLst>
          </c:dPt>
          <c:dPt>
            <c:idx val="5"/>
            <c:invertIfNegative val="0"/>
            <c:bubble3D val="0"/>
            <c:spPr>
              <a:solidFill>
                <a:srgbClr val="A5F3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699-435A-BE57-0D206944C397}"/>
              </c:ext>
            </c:extLst>
          </c:dPt>
          <c:dPt>
            <c:idx val="6"/>
            <c:invertIfNegative val="0"/>
            <c:bubble3D val="0"/>
            <c:spPr>
              <a:solidFill>
                <a:srgbClr val="BAE6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699-435A-BE57-0D206944C397}"/>
              </c:ext>
            </c:extLst>
          </c:dPt>
          <c:dPt>
            <c:idx val="7"/>
            <c:invertIfNegative val="0"/>
            <c:bubble3D val="0"/>
            <c:spPr>
              <a:solidFill>
                <a:srgbClr val="E0F7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699-435A-BE57-0D206944C39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Online TA</c:v>
                </c:pt>
                <c:pt idx="1">
                  <c:v>Offline TA/TO</c:v>
                </c:pt>
                <c:pt idx="2">
                  <c:v>Direct</c:v>
                </c:pt>
                <c:pt idx="3">
                  <c:v>Corporate</c:v>
                </c:pt>
                <c:pt idx="4">
                  <c:v>Groups</c:v>
                </c:pt>
                <c:pt idx="5">
                  <c:v>Complementary</c:v>
                </c:pt>
                <c:pt idx="6">
                  <c:v>Aviation</c:v>
                </c:pt>
                <c:pt idx="7">
                  <c:v>Undefined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47310</c:v>
                </c:pt>
                <c:pt idx="1">
                  <c:v>13902</c:v>
                </c:pt>
                <c:pt idx="2">
                  <c:v>12026</c:v>
                </c:pt>
                <c:pt idx="3">
                  <c:v>5305</c:v>
                </c:pt>
                <c:pt idx="4">
                  <c:v>2985</c:v>
                </c:pt>
                <c:pt idx="5">
                  <c:v>582</c:v>
                </c:pt>
                <c:pt idx="6">
                  <c:v>603</c:v>
                </c:pt>
                <c:pt idx="7">
                  <c:v>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699-435A-BE57-0D206944C39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Deposit Type vs. Cancellation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Canceled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 Deposit</c:v>
                </c:pt>
                <c:pt idx="1">
                  <c:v>Refundable</c:v>
                </c:pt>
                <c:pt idx="2">
                  <c:v>Non Refund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61500</c:v>
                </c:pt>
                <c:pt idx="1">
                  <c:v>98</c:v>
                </c:pt>
                <c:pt idx="2">
                  <c:v>1839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3D-41D7-B405-5FBBE6BB6E3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No Deposit</c:v>
                </c:pt>
                <c:pt idx="1">
                  <c:v>Refundable</c:v>
                </c:pt>
                <c:pt idx="2">
                  <c:v>Non Refund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21000</c:v>
                </c:pt>
                <c:pt idx="1">
                  <c:v>254</c:v>
                </c:pt>
                <c:pt idx="2">
                  <c:v>2764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3D-41D7-B405-5FBBE6BB6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Guests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63A-470D-B914-6CF6DC54FB4F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63A-470D-B914-6CF6DC54FB4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63A-470D-B914-6CF6DC54FB4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3A-470D-B914-6CF6DC54FB4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New Guests</c:v>
                </c:pt>
                <c:pt idx="1">
                  <c:v>Repeat Guests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83972</c:v>
                </c:pt>
                <c:pt idx="1">
                  <c:v>3257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3A-470D-B914-6CF6DC54FB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Number of Special Requests vs. Cancellation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Canceled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27000</c:v>
                </c:pt>
                <c:pt idx="1">
                  <c:v>22000</c:v>
                </c:pt>
                <c:pt idx="2">
                  <c:v>9800</c:v>
                </c:pt>
                <c:pt idx="3">
                  <c:v>3900</c:v>
                </c:pt>
                <c:pt idx="4">
                  <c:v>650</c:v>
                </c:pt>
                <c:pt idx="5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6F-4DFE-B701-AF241A041B1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Canceled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15000</c:v>
                </c:pt>
                <c:pt idx="1">
                  <c:v>6400</c:v>
                </c:pt>
                <c:pt idx="2">
                  <c:v>1900</c:v>
                </c:pt>
                <c:pt idx="3">
                  <c:v>600</c:v>
                </c:pt>
                <c:pt idx="4">
                  <c:v>100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6F-4DFE-B701-AF241A041B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Revenue Loss due to Cancellations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765-43F9-9DA5-C9BD7D30532C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65-43F9-9DA5-C9BD7D30532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765-43F9-9DA5-C9BD7D30532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765-43F9-9DA5-C9BD7D30532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Actual Revenue</c:v>
                </c:pt>
                <c:pt idx="1">
                  <c:v>Lost Revenue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22967548</c:v>
                </c:pt>
                <c:pt idx="1">
                  <c:v>11478643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65-43F9-9DA5-C9BD7D3053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AFAF7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E7D-4184-BAE6-F5A6466753F5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E7D-4184-BAE6-F5A6466753F5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E7D-4184-BAE6-F5A6466753F5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E7D-4184-BAE6-F5A6466753F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XGBoost
⭐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79.81</c:v>
                </c:pt>
                <c:pt idx="1">
                  <c:v>80.349999999999994</c:v>
                </c:pt>
                <c:pt idx="2">
                  <c:v>84.88</c:v>
                </c:pt>
                <c:pt idx="3">
                  <c:v>85.35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7D-4184-BAE6-F5A6466753F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7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950" b="0" i="0" u="none" strike="noStrike">
                <a:solidFill>
                  <a:srgbClr val="1E293B"/>
                </a:solidFill>
                <a:latin typeface="Arial"/>
              </a:rPr>
              <a:t>Precision (Canceled)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 (Canceled)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22F-4793-BBF5-5A23CC8EDAD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2F-4793-BBF5-5A23CC8EDADF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2F-4793-BBF5-5A23CC8EDADF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22F-4793-BBF5-5A23CC8EDA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XGB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0.69</c:v>
                </c:pt>
                <c:pt idx="1">
                  <c:v>0.64</c:v>
                </c:pt>
                <c:pt idx="2">
                  <c:v>0.79</c:v>
                </c:pt>
                <c:pt idx="3">
                  <c:v>0.75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22F-4793-BBF5-5A23CC8EDA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950" b="0" i="0" u="none" strike="noStrike">
                <a:solidFill>
                  <a:srgbClr val="1E293B"/>
                </a:solidFill>
                <a:latin typeface="Arial"/>
              </a:rPr>
              <a:t>Recall (Canceled)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(Canceled)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146-4F54-99D5-2342E252E831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146-4F54-99D5-2342E252E831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146-4F54-99D5-2342E252E831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146-4F54-99D5-2342E252E83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XGB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0.48</c:v>
                </c:pt>
                <c:pt idx="1">
                  <c:v>0.64</c:v>
                </c:pt>
                <c:pt idx="2">
                  <c:v>0.62</c:v>
                </c:pt>
                <c:pt idx="3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146-4F54-99D5-2342E252E83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3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5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950" b="0" i="0" u="none" strike="noStrike">
                <a:solidFill>
                  <a:srgbClr val="1E293B"/>
                </a:solidFill>
                <a:latin typeface="Arial"/>
              </a:rPr>
              <a:t>F1-Score (Canceled)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(Canceled)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A54-44E3-9817-2C03DC7DA7EE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54-44E3-9817-2C03DC7DA7EE}"/>
              </c:ext>
            </c:extLst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54-44E3-9817-2C03DC7DA7EE}"/>
              </c:ext>
            </c:extLst>
          </c:dPt>
          <c:dPt>
            <c:idx val="3"/>
            <c:invertIfNegative val="0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A54-44E3-9817-2C03DC7DA7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LR</c:v>
                </c:pt>
                <c:pt idx="1">
                  <c:v>DT</c:v>
                </c:pt>
                <c:pt idx="2">
                  <c:v>RF</c:v>
                </c:pt>
                <c:pt idx="3">
                  <c:v>XGB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0.56999999999999995</c:v>
                </c:pt>
                <c:pt idx="1">
                  <c:v>0.64</c:v>
                </c:pt>
                <c:pt idx="2">
                  <c:v>0.69</c:v>
                </c:pt>
                <c:pt idx="3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A54-44E3-9817-2C03DC7DA7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E293B"/>
                </a:solidFill>
                <a:latin typeface="Arial"/>
              </a:rPr>
              <a:t>ROC-AUC Curve — All Models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 (AUC=0.84)</c:v>
                </c:pt>
              </c:strCache>
            </c:strRef>
          </c:tx>
          <c:spPr>
            <a:ln w="25400" cap="flat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0.4</c:v>
                </c:pt>
                <c:pt idx="2">
                  <c:v>0.57999999999999996</c:v>
                </c:pt>
                <c:pt idx="3">
                  <c:v>0.72</c:v>
                </c:pt>
                <c:pt idx="4">
                  <c:v>0.8</c:v>
                </c:pt>
                <c:pt idx="5">
                  <c:v>0.88</c:v>
                </c:pt>
                <c:pt idx="6">
                  <c:v>0.94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DFE-4246-A874-BB742A6AD5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 (AUC=0.75)</c:v>
                </c:pt>
              </c:strCache>
            </c:strRef>
          </c:tx>
          <c:spPr>
            <a:ln w="254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0.32</c:v>
                </c:pt>
                <c:pt idx="2">
                  <c:v>0.48</c:v>
                </c:pt>
                <c:pt idx="3">
                  <c:v>0.62</c:v>
                </c:pt>
                <c:pt idx="4">
                  <c:v>0.69</c:v>
                </c:pt>
                <c:pt idx="5">
                  <c:v>0.78</c:v>
                </c:pt>
                <c:pt idx="6">
                  <c:v>0.88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DFE-4246-A874-BB742A6AD5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 (AUC=0.91)</c:v>
                </c:pt>
              </c:strCache>
            </c:strRef>
          </c:tx>
          <c:spPr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0.55000000000000004</c:v>
                </c:pt>
                <c:pt idx="2">
                  <c:v>0.72</c:v>
                </c:pt>
                <c:pt idx="3">
                  <c:v>0.82</c:v>
                </c:pt>
                <c:pt idx="4">
                  <c:v>0.87</c:v>
                </c:pt>
                <c:pt idx="5">
                  <c:v>0.93</c:v>
                </c:pt>
                <c:pt idx="6">
                  <c:v>0.97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DFE-4246-A874-BB742A6AD5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 (AUC=0.92) ⭐</c:v>
                </c:pt>
              </c:strCache>
            </c:strRef>
          </c:tx>
          <c:spPr>
            <a:ln w="2540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0.56999999999999995</c:v>
                </c:pt>
                <c:pt idx="2">
                  <c:v>0.74</c:v>
                </c:pt>
                <c:pt idx="3">
                  <c:v>0.84</c:v>
                </c:pt>
                <c:pt idx="4">
                  <c:v>0.88</c:v>
                </c:pt>
                <c:pt idx="5">
                  <c:v>0.94</c:v>
                </c:pt>
                <c:pt idx="6">
                  <c:v>0.98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DFE-4246-A874-BB742A6AD55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Random Guess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1.0</c:v>
                </c:pt>
              </c:strCache>
            </c:strRef>
          </c:cat>
          <c:val>
            <c:numRef>
              <c:f>Sheet1!$F$2:$F$9</c:f>
              <c:numCache>
                <c:formatCode>General</c:formatCode>
                <c:ptCount val="8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0.2</c:v>
                </c:pt>
                <c:pt idx="4">
                  <c:v>0.3</c:v>
                </c:pt>
                <c:pt idx="5">
                  <c:v>0.5</c:v>
                </c:pt>
                <c:pt idx="6">
                  <c:v>0.7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DFE-4246-A874-BB742A6AD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Top 10 Features (Random Forest)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Score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0B-414D-8F15-7A68493CEC1B}"/>
              </c:ext>
            </c:extLst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0B-414D-8F15-7A68493CEC1B}"/>
              </c:ext>
            </c:extLst>
          </c:dPt>
          <c:dPt>
            <c:idx val="2"/>
            <c:invertIfNegative val="0"/>
            <c:bubble3D val="0"/>
            <c:spPr>
              <a:solidFill>
                <a:srgbClr val="0E74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0B-414D-8F15-7A68493CEC1B}"/>
              </c:ext>
            </c:extLst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0B-414D-8F15-7A68493CEC1B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0B-414D-8F15-7A68493CEC1B}"/>
              </c:ext>
            </c:extLst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30B-414D-8F15-7A68493CEC1B}"/>
              </c:ext>
            </c:extLst>
          </c:dPt>
          <c:dPt>
            <c:idx val="6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30B-414D-8F15-7A68493CEC1B}"/>
              </c:ext>
            </c:extLst>
          </c:dPt>
          <c:dPt>
            <c:idx val="7"/>
            <c:invertIfNegative val="0"/>
            <c:bubble3D val="0"/>
            <c:spPr>
              <a:solidFill>
                <a:srgbClr val="EC48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30B-414D-8F15-7A68493CEC1B}"/>
              </c:ext>
            </c:extLst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30B-414D-8F15-7A68493CEC1B}"/>
              </c:ext>
            </c:extLst>
          </c:dPt>
          <c:dPt>
            <c:idx val="9"/>
            <c:invertIfNegative val="0"/>
            <c:bubble3D val="0"/>
            <c:spPr>
              <a:solidFill>
                <a:srgbClr val="636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30B-414D-8F15-7A68493CEC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lead_time</c:v>
                </c:pt>
                <c:pt idx="1">
                  <c:v>revenue</c:v>
                </c:pt>
                <c:pt idx="2">
                  <c:v>adr</c:v>
                </c:pt>
                <c:pt idx="3">
                  <c:v>total_special_requests</c:v>
                </c:pt>
                <c:pt idx="4">
                  <c:v>arrival_day</c:v>
                </c:pt>
                <c:pt idx="5">
                  <c:v>arrival_week</c:v>
                </c:pt>
                <c:pt idx="6">
                  <c:v>agent</c:v>
                </c:pt>
                <c:pt idx="7">
                  <c:v>country_PRT</c:v>
                </c:pt>
                <c:pt idx="8">
                  <c:v>total_nights</c:v>
                </c:pt>
                <c:pt idx="9">
                  <c:v>stays_wk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0.105</c:v>
                </c:pt>
                <c:pt idx="1">
                  <c:v>8.5000000000000006E-2</c:v>
                </c:pt>
                <c:pt idx="2">
                  <c:v>0.08</c:v>
                </c:pt>
                <c:pt idx="3">
                  <c:v>6.5000000000000002E-2</c:v>
                </c:pt>
                <c:pt idx="4">
                  <c:v>0.06</c:v>
                </c:pt>
                <c:pt idx="5">
                  <c:v>5.5E-2</c:v>
                </c:pt>
                <c:pt idx="6">
                  <c:v>4.8000000000000001E-2</c:v>
                </c:pt>
                <c:pt idx="7">
                  <c:v>4.3999999999999997E-2</c:v>
                </c:pt>
                <c:pt idx="8">
                  <c:v>0.04</c:v>
                </c:pt>
                <c:pt idx="9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30B-414D-8F15-7A68493CEC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5961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0" y="2542032"/>
            <a:ext cx="3383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37960" y="411480"/>
            <a:ext cx="1737360" cy="2011680"/>
          </a:xfrm>
          <a:prstGeom prst="rect">
            <a:avLst/>
          </a:prstGeom>
          <a:solidFill>
            <a:srgbClr val="1620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274320"/>
            <a:ext cx="201168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29400" y="658368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59752" y="658368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90104" y="658368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078992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59752" y="1078992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90104" y="1078992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499616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1499616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90104" y="1499616"/>
            <a:ext cx="347472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1828800"/>
            <a:ext cx="45720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51760"/>
            <a:ext cx="347472" cy="347472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2651760"/>
            <a:ext cx="347472" cy="347472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024" y="2651760"/>
            <a:ext cx="347472" cy="347472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36" y="2651760"/>
            <a:ext cx="347472" cy="347472"/>
          </a:xfrm>
          <a:prstGeom prst="rect">
            <a:avLst/>
          </a:prstGeom>
        </p:spPr>
      </p:pic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265176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760720" y="3063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LUXURY ANALYTICS</a:t>
            </a:r>
            <a:endParaRPr lang="en-US" sz="9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6080760" y="3474720"/>
            <a:ext cx="502920" cy="502920"/>
          </a:xfrm>
          <a:prstGeom prst="rect">
            <a:avLst/>
          </a:prstGeom>
        </p:spPr>
      </p:pic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6903720" y="3474720"/>
            <a:ext cx="502920" cy="50292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7726680" y="3474720"/>
            <a:ext cx="502920" cy="502920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760720" y="404164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ML  ·  Data Science</a:t>
            </a:r>
            <a:endParaRPr lang="en-US" sz="1000" dirty="0"/>
          </a:p>
        </p:txBody>
      </p:sp>
      <p:sp>
        <p:nvSpPr>
          <p:cNvPr id="27" name="Shape 17"/>
          <p:cNvSpPr/>
          <p:nvPr/>
        </p:nvSpPr>
        <p:spPr>
          <a:xfrm>
            <a:off x="320040" y="347472"/>
            <a:ext cx="2377440" cy="2926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18"/>
          <p:cNvSpPr/>
          <p:nvPr/>
        </p:nvSpPr>
        <p:spPr>
          <a:xfrm>
            <a:off x="320040" y="34747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INTELLIGENCE</a:t>
            </a:r>
            <a:endParaRPr lang="en-US" sz="850" dirty="0"/>
          </a:p>
        </p:txBody>
      </p:sp>
      <p:sp>
        <p:nvSpPr>
          <p:cNvPr id="29" name="Text 19"/>
          <p:cNvSpPr/>
          <p:nvPr/>
        </p:nvSpPr>
        <p:spPr>
          <a:xfrm>
            <a:off x="274320" y="749808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4000" dirty="0"/>
          </a:p>
        </p:txBody>
      </p:sp>
      <p:sp>
        <p:nvSpPr>
          <p:cNvPr id="30" name="Text 20"/>
          <p:cNvSpPr/>
          <p:nvPr/>
        </p:nvSpPr>
        <p:spPr>
          <a:xfrm>
            <a:off x="274320" y="1408176"/>
            <a:ext cx="5349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4000" dirty="0"/>
          </a:p>
        </p:txBody>
      </p:sp>
      <p:sp>
        <p:nvSpPr>
          <p:cNvPr id="31" name="Text 21"/>
          <p:cNvSpPr/>
          <p:nvPr/>
        </p:nvSpPr>
        <p:spPr>
          <a:xfrm>
            <a:off x="274320" y="2066544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Revenue</a:t>
            </a:r>
            <a:endParaRPr lang="en-US" sz="2800" dirty="0"/>
          </a:p>
        </p:txBody>
      </p:sp>
      <p:sp>
        <p:nvSpPr>
          <p:cNvPr id="32" name="Text 22"/>
          <p:cNvSpPr/>
          <p:nvPr/>
        </p:nvSpPr>
        <p:spPr>
          <a:xfrm>
            <a:off x="274320" y="2542032"/>
            <a:ext cx="5349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using Machine Learning</a:t>
            </a:r>
            <a:endParaRPr lang="en-US" sz="1600" dirty="0"/>
          </a:p>
        </p:txBody>
      </p:sp>
      <p:sp>
        <p:nvSpPr>
          <p:cNvPr id="33" name="Shape 23"/>
          <p:cNvSpPr/>
          <p:nvPr/>
        </p:nvSpPr>
        <p:spPr>
          <a:xfrm>
            <a:off x="274320" y="2971800"/>
            <a:ext cx="52120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274320" y="3063240"/>
            <a:ext cx="5349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Based Business Intelligence System for the Hospitality Industry</a:t>
            </a:r>
            <a:endParaRPr lang="en-US" sz="1200" dirty="0"/>
          </a:p>
        </p:txBody>
      </p:sp>
      <p:sp>
        <p:nvSpPr>
          <p:cNvPr id="35" name="Shape 25"/>
          <p:cNvSpPr/>
          <p:nvPr/>
        </p:nvSpPr>
        <p:spPr>
          <a:xfrm>
            <a:off x="274320" y="3611880"/>
            <a:ext cx="1207008" cy="1325880"/>
          </a:xfrm>
          <a:prstGeom prst="rect">
            <a:avLst/>
          </a:prstGeom>
          <a:solidFill>
            <a:srgbClr val="162035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26"/>
          <p:cNvSpPr/>
          <p:nvPr/>
        </p:nvSpPr>
        <p:spPr>
          <a:xfrm>
            <a:off x="274320" y="370332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119K+</a:t>
            </a:r>
            <a:endParaRPr lang="en-US" sz="1800" dirty="0"/>
          </a:p>
        </p:txBody>
      </p:sp>
      <p:sp>
        <p:nvSpPr>
          <p:cNvPr id="37" name="Shape 27"/>
          <p:cNvSpPr/>
          <p:nvPr/>
        </p:nvSpPr>
        <p:spPr>
          <a:xfrm>
            <a:off x="411480" y="4279392"/>
            <a:ext cx="932688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274320" y="4325112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1581912" y="3611880"/>
            <a:ext cx="1207008" cy="1325880"/>
          </a:xfrm>
          <a:prstGeom prst="rect">
            <a:avLst/>
          </a:prstGeom>
          <a:solidFill>
            <a:srgbClr val="162035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Text 30"/>
          <p:cNvSpPr/>
          <p:nvPr/>
        </p:nvSpPr>
        <p:spPr>
          <a:xfrm>
            <a:off x="1581912" y="370332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800" dirty="0"/>
          </a:p>
        </p:txBody>
      </p:sp>
      <p:sp>
        <p:nvSpPr>
          <p:cNvPr id="41" name="Shape 31"/>
          <p:cNvSpPr/>
          <p:nvPr/>
        </p:nvSpPr>
        <p:spPr>
          <a:xfrm>
            <a:off x="1719072" y="4279392"/>
            <a:ext cx="932688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32"/>
          <p:cNvSpPr/>
          <p:nvPr/>
        </p:nvSpPr>
        <p:spPr>
          <a:xfrm>
            <a:off x="1581912" y="4325112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2889504" y="3611880"/>
            <a:ext cx="1207008" cy="1325880"/>
          </a:xfrm>
          <a:prstGeom prst="rect">
            <a:avLst/>
          </a:prstGeom>
          <a:solidFill>
            <a:srgbClr val="162035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34"/>
          <p:cNvSpPr/>
          <p:nvPr/>
        </p:nvSpPr>
        <p:spPr>
          <a:xfrm>
            <a:off x="2889504" y="370332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5" name="Shape 35"/>
          <p:cNvSpPr/>
          <p:nvPr/>
        </p:nvSpPr>
        <p:spPr>
          <a:xfrm>
            <a:off x="3026664" y="4279392"/>
            <a:ext cx="932688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2889504" y="4325112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4197096" y="3611880"/>
            <a:ext cx="1207008" cy="1325880"/>
          </a:xfrm>
          <a:prstGeom prst="rect">
            <a:avLst/>
          </a:prstGeom>
          <a:solidFill>
            <a:srgbClr val="162035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38"/>
          <p:cNvSpPr/>
          <p:nvPr/>
        </p:nvSpPr>
        <p:spPr>
          <a:xfrm>
            <a:off x="4197096" y="3703320"/>
            <a:ext cx="1207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85.35%</a:t>
            </a:r>
            <a:endParaRPr lang="en-US" sz="1800" dirty="0"/>
          </a:p>
        </p:txBody>
      </p:sp>
      <p:sp>
        <p:nvSpPr>
          <p:cNvPr id="49" name="Shape 39"/>
          <p:cNvSpPr/>
          <p:nvPr/>
        </p:nvSpPr>
        <p:spPr>
          <a:xfrm>
            <a:off x="4334256" y="4279392"/>
            <a:ext cx="932688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4197096" y="4325112"/>
            <a:ext cx="12070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486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68680"/>
            <a:ext cx="4251960" cy="17830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868680"/>
            <a:ext cx="425196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069848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069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93192" y="16002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face massive booking cancellations causing revenue leakage, empty rooms and poor occupancy planning.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54880" y="868680"/>
            <a:ext cx="4251960" cy="1783080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868680"/>
            <a:ext cx="425196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069848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32120" y="10698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919472" y="160020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33% of potential revenue is lost due to cancellations — a critical financial challenge for hospitality.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228600" y="2788920"/>
            <a:ext cx="4251960" cy="178308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28600" y="2788920"/>
            <a:ext cx="425196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2990088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2990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93192" y="35204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predict cancellations before they happen, enabling proactive revenue management.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754880" y="2788920"/>
            <a:ext cx="4251960" cy="178308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2788920"/>
            <a:ext cx="42519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990088"/>
            <a:ext cx="502920" cy="5029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532120" y="29900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4919472" y="3520440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revenue leakage, optimize dynamic pricing, improve occupancy, and drive data-driven decisions.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182880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Made</a:t>
            </a:r>
            <a:endParaRPr lang="en-US" sz="850" dirty="0"/>
          </a:p>
        </p:txBody>
      </p:sp>
      <p:sp>
        <p:nvSpPr>
          <p:cNvPr id="27" name="Text 20"/>
          <p:cNvSpPr/>
          <p:nvPr/>
        </p:nvSpPr>
        <p:spPr>
          <a:xfrm>
            <a:off x="1152144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2121408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Risk?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3090672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059936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5029200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998464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Prediction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6967728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7936992" y="4690872"/>
            <a:ext cx="914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8745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024128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9875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93192" y="1627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3192" y="199339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due to cancellations annually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822960"/>
            <a:ext cx="2743200" cy="1874520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822960"/>
            <a:ext cx="27432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024128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9875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3319272" y="1627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19272" y="199339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bookings get cancelled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822960"/>
            <a:ext cx="2743200" cy="1874520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822960"/>
            <a:ext cx="27432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024128"/>
            <a:ext cx="530352" cy="5303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03720" y="98755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~31K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6245352" y="162763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45352" y="1993392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issues distorting insights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1600200" y="2852928"/>
            <a:ext cx="2743200" cy="187452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600200" y="2852928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4792" y="3054096"/>
            <a:ext cx="530352" cy="5303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423160" y="3017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3.86%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1764792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 Only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764792" y="402336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loyalty &amp; retention gap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526280" y="2852928"/>
            <a:ext cx="2743200" cy="1874520"/>
          </a:xfrm>
          <a:prstGeom prst="rect">
            <a:avLst/>
          </a:prstGeom>
          <a:solidFill>
            <a:srgbClr val="FEFCE8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26280" y="2852928"/>
            <a:ext cx="274320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3054096"/>
            <a:ext cx="530352" cy="5303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30175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4690872" y="3657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No-Deposit Risk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690872" y="4023360"/>
            <a:ext cx="2423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cancellations lead to revenue abuse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2743200" cy="182880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47548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0584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Cancellations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95681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to predict bookings that will be cancelled before they occur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841248"/>
            <a:ext cx="2743200" cy="182880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54680" y="841248"/>
            <a:ext cx="47548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005840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Revenue Loss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749040" y="195681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33% revenue leakage caused by cancelled bookings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841248"/>
            <a:ext cx="2743200" cy="1828800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80760" y="841248"/>
            <a:ext cx="47548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15544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1005840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75120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Occupancy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675120" y="1956816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data-driven room allocation and staffing strategies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28600" y="2871216"/>
            <a:ext cx="2743200" cy="1828800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28600" y="2871216"/>
            <a:ext cx="47548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28600" y="35844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035808"/>
            <a:ext cx="475488" cy="4754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2960" y="3584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Behavior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822960" y="39867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patterns in booking habits, lead time and demographics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154680" y="2871216"/>
            <a:ext cx="2743200" cy="182880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154680" y="2871216"/>
            <a:ext cx="47548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154680" y="35844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9040" y="3035808"/>
            <a:ext cx="475488" cy="4754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749040" y="3584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ML Algorithms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749040" y="39867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Logistic Regression, Decision Tree, Random Forest, XGBoost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080760" y="2871216"/>
            <a:ext cx="2743200" cy="1828800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080760" y="2871216"/>
            <a:ext cx="475488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080760" y="3584448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3035808"/>
            <a:ext cx="475488" cy="47548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75120" y="35844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Strategy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675120" y="3986784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actionable hospitality business recommendations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201168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86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435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41248"/>
            <a:ext cx="2011680" cy="10058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86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23160" y="1435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41248"/>
            <a:ext cx="201168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886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1435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Types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841248"/>
            <a:ext cx="201168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88696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87,229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12280" y="1435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993392"/>
            <a:ext cx="4206240" cy="138988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084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Booking Info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450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lead_time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6700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arrival_date_year/month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" y="2889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stays_in_weekend_nights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31089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stays_in_week_nights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1993392"/>
            <a:ext cx="4206240" cy="13898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0848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Customer Info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45059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adults, children, babies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6700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country, meal type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8895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is_repeated_guest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37760" y="31089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customer_type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28600" y="3520440"/>
            <a:ext cx="4206240" cy="138988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611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Revenue Variables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9776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adr (avg daily rate)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1970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deposit_type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4165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market_segment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6360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distribution_channel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3520440"/>
            <a:ext cx="4206240" cy="138988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36118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Engineered Features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9776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total_guests = adults+children+babies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37760" y="419709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total_nights = wk+wknd nights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937760" y="44165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= adr × total_nights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46360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 time buckets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8745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3200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87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96926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31,994 duplicate rows removed to prevent distorted analysis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2468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−31,994 rows removed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822960"/>
            <a:ext cx="2743200" cy="1874520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822960"/>
            <a:ext cx="2743200" cy="64008"/>
          </a:xfrm>
          <a:prstGeom prst="rect">
            <a:avLst/>
          </a:prstGeom>
          <a:solidFill>
            <a:srgbClr val="EA580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987552"/>
            <a:ext cx="3200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987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03320" y="96926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Company Column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4173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112,593 nulls (94%) — column dropped entirely from dataset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2240280"/>
            <a:ext cx="2468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Column dropped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0760" y="822960"/>
            <a:ext cx="2743200" cy="187452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822960"/>
            <a:ext cx="274320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987552"/>
            <a:ext cx="3200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987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9400" y="969264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1417320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children→0, Country→'Others', Agent→0 (logical fill)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2240280"/>
            <a:ext cx="2468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488+16K values filled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2816352"/>
            <a:ext cx="2743200" cy="1874520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2816352"/>
            <a:ext cx="274320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980944"/>
            <a:ext cx="3200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80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296265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Invalid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341071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where adults+children+babies = 0 removed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233672"/>
            <a:ext cx="2468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233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Invalid rows removed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154680" y="2816352"/>
            <a:ext cx="2743200" cy="187452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54680" y="2816352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2980944"/>
            <a:ext cx="3200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0" y="2980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03320" y="296265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91840" y="341071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outliers filtered: kept adr &lt; 5000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91840" y="4233672"/>
            <a:ext cx="2468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4233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ADR range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80760" y="2816352"/>
            <a:ext cx="2743200" cy="1874520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80760" y="2816352"/>
            <a:ext cx="27432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0" y="2980944"/>
            <a:ext cx="32004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0" y="298094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29400" y="2962656"/>
            <a:ext cx="20848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Types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17920" y="341071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→ int, agent → int for correct operations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17920" y="4233672"/>
            <a:ext cx="246888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423367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Types corrected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8686800" cy="120700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54864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61288"/>
            <a:ext cx="566928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78992" y="841248"/>
            <a:ext cx="36576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88720" y="9144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total_guests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1316736"/>
            <a:ext cx="47548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13167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adults + children + babies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26480" y="841248"/>
            <a:ext cx="36576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36208" y="1005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guests per booking — captures group size patterns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8600" y="2212848"/>
            <a:ext cx="8686800" cy="1207008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8600" y="2212848"/>
            <a:ext cx="54864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532888"/>
            <a:ext cx="566928" cy="56692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078992" y="2212848"/>
            <a:ext cx="36576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88720" y="22860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total_nights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1188720" y="2688336"/>
            <a:ext cx="47548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88720" y="26883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stays_in_week_nights + stays_in_weekend_nights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26480" y="2212848"/>
            <a:ext cx="36576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36208" y="23774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stay duration — combines weekday and weekend nights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28600" y="3584448"/>
            <a:ext cx="8686800" cy="12070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28600" y="3584448"/>
            <a:ext cx="54864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904488"/>
            <a:ext cx="566928" cy="56692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78992" y="3584448"/>
            <a:ext cx="36576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1188720" y="36576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1188720" y="4059936"/>
            <a:ext cx="475488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188720" y="40599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adr × total_nights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126480" y="3584448"/>
            <a:ext cx="36576" cy="1207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36208" y="37490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per booking — key financial target for optimization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228600" y="4864608"/>
            <a:ext cx="8686800" cy="237744"/>
          </a:xfrm>
          <a:prstGeom prst="rect">
            <a:avLst/>
          </a:prstGeom>
          <a:solidFill>
            <a:srgbClr val="E0F2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Encoding: pd.get_dummies(drop_first=True)  |  Target: is_canceled (0/1)  |  Leakage columns dropped: reservation_status, reservation_status_date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TYPE DISTRIBUTION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51206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841248"/>
            <a:ext cx="3337560" cy="1234440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42432" y="9326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Key Insight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42432" y="1298448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 has ~61% of all bookings vs 39% for Resort Hotel — significantly higher demand.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2231136"/>
            <a:ext cx="3337560" cy="1234440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42432" y="2322576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Recommendation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42432" y="2688336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campaigns, loyalty programs and AI-driven strategies on City Hotels for maximum ROI.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621024"/>
            <a:ext cx="3337560" cy="12344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42432" y="371246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Data Points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742432" y="4078224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Hotel: 33,396 bookings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Hotel:  53,833 bookings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41248"/>
          <a:ext cx="4206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46320" y="841248"/>
            <a:ext cx="4069080" cy="80467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10912" y="886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492240" y="886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755648"/>
            <a:ext cx="4069080" cy="804672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10912" y="18013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24,018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92240" y="18013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Bookings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46320" y="2670048"/>
            <a:ext cx="4069080" cy="80467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10912" y="27157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63,437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492240" y="27157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Bookings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846320" y="3584448"/>
            <a:ext cx="4069080" cy="804672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10912" y="36301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492240" y="36301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846320" y="4553712"/>
            <a:ext cx="406908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37760" y="458114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cancellation rate is a major ongoing revenue leakage problem requiring ML-driven intervention.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41248"/>
            <a:ext cx="3154680" cy="118872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25312" y="93268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25312" y="129844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bookings have ~54% longer lead time (108 vs 70 days) compared to completed ones.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760720" y="2194560"/>
            <a:ext cx="315468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25312" y="22860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25312" y="2651760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bookings are significantly less reliable — customers book far ahead but don't show up.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3547872"/>
            <a:ext cx="3154680" cy="1188720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25312" y="36393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25312" y="4005072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 is the #1 most important feature in the Random Forest model for predicting cancellations.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BOOKING TREND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85953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06240"/>
            <a:ext cx="2816352" cy="74980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84048" y="4279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🏖️ Peak Season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4048" y="45354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84048" y="47365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demand — premium pricing opportunity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46120" y="4206240"/>
            <a:ext cx="2816352" cy="74980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355848" y="4279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High Season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55848" y="45354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April, May, June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55848" y="47365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demand — optimize occupancy rates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4206240"/>
            <a:ext cx="2816352" cy="74980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27648" y="42793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 Low Season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327648" y="4535424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Nov, Dec, January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327648" y="4736592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pricing to boost off-season bookings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41248"/>
            <a:ext cx="3154680" cy="1078992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89611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54.2%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296912" y="89611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296912" y="11612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all channels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103120"/>
            <a:ext cx="3154680" cy="1078992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897880" y="21579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296912" y="215798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TA/TO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96912" y="24231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largest segment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3364992"/>
            <a:ext cx="3154680" cy="107899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897880" y="3419856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13.8%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296912" y="341985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Bookings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96912" y="36850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loyal customers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4645152"/>
            <a:ext cx="3154680" cy="38404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870448" y="4709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Strategy: Invest in digital marketing &amp; OTA partnerships. Focus retention for direct bookings.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TYPE vs CANCELLATION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530352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41248"/>
            <a:ext cx="3154680" cy="11887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25312" y="9326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Deposit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25312" y="123444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Cancel Rate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925312" y="149047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financial commitment → customers book speculatively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2194560"/>
            <a:ext cx="3154680" cy="1188720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25312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Refund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25312" y="25877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Cancel Rate!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25312" y="284378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feel trapped but cancel anyway — counterintuitive pattern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3547872"/>
            <a:ext cx="3154680" cy="118872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25312" y="363931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25312" y="39410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Deposit Policy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25312" y="419709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deposits based on ML risk score for high lead-time bookings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GUEST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841248"/>
          <a:ext cx="4572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41248"/>
            <a:ext cx="3749040" cy="102412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85232" y="89611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022592" y="8961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Guests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022592" y="1207008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visitors every time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120640" y="2048256"/>
            <a:ext cx="3749040" cy="102412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85232" y="210312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7022592" y="21031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22592" y="2414016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loyalty gap in hospitality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120640" y="3346704"/>
            <a:ext cx="3749040" cy="1481328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285232" y="343814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Loyalty Strategy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85232" y="3822192"/>
            <a:ext cx="3429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Points-based rewards program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Personalized re-engagement offers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Exclusive member-only pricing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Post-stay feedback &amp; incentives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 vs CANCELLATION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859536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79392"/>
            <a:ext cx="2816352" cy="65836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343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Requests → Highest Cancel Risk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46120" y="4279392"/>
            <a:ext cx="2816352" cy="65836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3280" y="4343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Requests → Very Low Cancel Rate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17920" y="4279392"/>
            <a:ext cx="2816352" cy="65836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434340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= Lower Cancellations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41248"/>
          <a:ext cx="45720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841248"/>
            <a:ext cx="3840480" cy="80467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166360" y="88696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₹2.30 Cr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675120" y="8869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Revenue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75120" y="1143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completed bookings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029200" y="1801368"/>
            <a:ext cx="3840480" cy="804672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166360" y="184708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₹1.15 Cr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675120" y="1847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21031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24,018 cancelled bookings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0" y="2761488"/>
            <a:ext cx="3840480" cy="804672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166360" y="280720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75120" y="28072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 Ratio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3063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business KPI requiring action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0" y="3721608"/>
            <a:ext cx="3840480" cy="804672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166360" y="3767328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₹106.46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675120" y="376732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Rate (ADR)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675120" y="40233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room per night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0" y="4690872"/>
            <a:ext cx="3840480" cy="27432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120640" y="471830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 10% reduction in cancellations = ~₹11.5L additional revenue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691640" y="841248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84124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2112264" y="841248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32888" y="841248"/>
            <a:ext cx="420624" cy="310896"/>
          </a:xfrm>
          <a:prstGeom prst="rect">
            <a:avLst/>
          </a:prstGeom>
          <a:solidFill>
            <a:srgbClr val="2166AC"/>
          </a:solidFill>
          <a:ln w="1270">
            <a:solidFill>
              <a:srgbClr val="2166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32888" y="84124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</a:t>
            </a:r>
            <a:endParaRPr lang="en-US" sz="600" dirty="0"/>
          </a:p>
        </p:txBody>
      </p:sp>
      <p:sp>
        <p:nvSpPr>
          <p:cNvPr id="9" name="Shape 7"/>
          <p:cNvSpPr/>
          <p:nvPr/>
        </p:nvSpPr>
        <p:spPr>
          <a:xfrm>
            <a:off x="2953512" y="841248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841248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0" y="84124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15384" y="841248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841248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56632" y="841248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77256" y="841248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841248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841248"/>
            <a:ext cx="420624" cy="310896"/>
          </a:xfrm>
          <a:prstGeom prst="rect">
            <a:avLst/>
          </a:prstGeom>
          <a:solidFill>
            <a:srgbClr val="2166AC"/>
          </a:solidFill>
          <a:ln w="1270">
            <a:solidFill>
              <a:srgbClr val="2166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84124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-0.32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6739128" y="841248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91640" y="1152144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2264" y="115214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12264" y="115214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23" name="Shape 21"/>
          <p:cNvSpPr/>
          <p:nvPr/>
        </p:nvSpPr>
        <p:spPr>
          <a:xfrm>
            <a:off x="2532888" y="1152144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53512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74136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5384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56632" y="1152144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77256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115214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8504" y="115214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115214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6739128" y="1152144"/>
            <a:ext cx="420624" cy="310896"/>
          </a:xfrm>
          <a:prstGeom prst="rect">
            <a:avLst/>
          </a:prstGeom>
          <a:solidFill>
            <a:srgbClr val="A50026"/>
          </a:solidFill>
          <a:ln w="1270">
            <a:solidFill>
              <a:srgbClr val="A500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39128" y="115214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1691640" y="1463040"/>
            <a:ext cx="420624" cy="310896"/>
          </a:xfrm>
          <a:prstGeom prst="rect">
            <a:avLst/>
          </a:prstGeom>
          <a:solidFill>
            <a:srgbClr val="2166AC"/>
          </a:solidFill>
          <a:ln w="1270">
            <a:solidFill>
              <a:srgbClr val="2166A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1640" y="14630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-0.31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2112264" y="1463040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32888" y="146304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32888" y="14630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953512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74136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94760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15384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36008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56632" y="1463040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77256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97880" y="146304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18504" y="146304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18504" y="14630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6739128" y="146304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39128" y="146304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1691640" y="1773936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12264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532888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953512" y="1773936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53512" y="1773936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3374136" y="1773936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94760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15384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36008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56632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77256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897880" y="1773936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897880" y="1773936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6318504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739128" y="177393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691640" y="2084832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112264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32888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53512" y="2084832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374136" y="2084832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74136" y="2084832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3794760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15384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636008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56632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77256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897880" y="2084832"/>
            <a:ext cx="420624" cy="310896"/>
          </a:xfrm>
          <a:prstGeom prst="rect">
            <a:avLst/>
          </a:prstGeom>
          <a:solidFill>
            <a:srgbClr val="A50026"/>
          </a:solidFill>
          <a:ln w="1270">
            <a:solidFill>
              <a:srgbClr val="A500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897880" y="2084832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6318504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39128" y="208483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691640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112264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32888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53512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74136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794760" y="2395728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794760" y="239572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90" name="Shape 88"/>
          <p:cNvSpPr/>
          <p:nvPr/>
        </p:nvSpPr>
        <p:spPr>
          <a:xfrm>
            <a:off x="4215384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36008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56632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477256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897880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18504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739128" y="239572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691640" y="2706624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112264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532888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953512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374136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794760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15384" y="270662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215384" y="270662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4636008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056632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77256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897880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318504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739128" y="270662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691640" y="3017520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112264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532888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2953512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374136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794760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215384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636008" y="301752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36008" y="301752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120" name="Shape 118"/>
          <p:cNvSpPr/>
          <p:nvPr/>
        </p:nvSpPr>
        <p:spPr>
          <a:xfrm>
            <a:off x="5056632" y="3017520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477256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5897880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6318504" y="301752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6739128" y="3017520"/>
            <a:ext cx="420624" cy="310896"/>
          </a:xfrm>
          <a:prstGeom prst="rect">
            <a:avLst/>
          </a:prstGeom>
          <a:solidFill>
            <a:srgbClr val="A50026"/>
          </a:solidFill>
          <a:ln w="1270">
            <a:solidFill>
              <a:srgbClr val="A50026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739128" y="301752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600" dirty="0"/>
          </a:p>
        </p:txBody>
      </p:sp>
      <p:sp>
        <p:nvSpPr>
          <p:cNvPr id="126" name="Shape 124"/>
          <p:cNvSpPr/>
          <p:nvPr/>
        </p:nvSpPr>
        <p:spPr>
          <a:xfrm>
            <a:off x="1691640" y="3328416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112264" y="3328416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532888" y="3328416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953512" y="332841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374136" y="332841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794760" y="332841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215384" y="332841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36008" y="3328416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56632" y="3328416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056632" y="3328416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136" name="Shape 134"/>
          <p:cNvSpPr/>
          <p:nvPr/>
        </p:nvSpPr>
        <p:spPr>
          <a:xfrm>
            <a:off x="5477256" y="332841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897880" y="3328416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318504" y="3328416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739128" y="3328416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691640" y="3639312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112264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532888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53512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3374136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794760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215384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636008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056632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477256" y="3639312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477256" y="3639312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>
            <a:off x="5897880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318504" y="3639312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739128" y="3639312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691640" y="3950208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112264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532888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953512" y="3950208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2953512" y="395020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600" dirty="0"/>
          </a:p>
        </p:txBody>
      </p:sp>
      <p:sp>
        <p:nvSpPr>
          <p:cNvPr id="159" name="Shape 157"/>
          <p:cNvSpPr/>
          <p:nvPr/>
        </p:nvSpPr>
        <p:spPr>
          <a:xfrm>
            <a:off x="3374136" y="3950208"/>
            <a:ext cx="420624" cy="310896"/>
          </a:xfrm>
          <a:prstGeom prst="rect">
            <a:avLst/>
          </a:prstGeom>
          <a:solidFill>
            <a:srgbClr val="A50026"/>
          </a:solidFill>
          <a:ln w="1270">
            <a:solidFill>
              <a:srgbClr val="A50026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374136" y="395020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3794760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215384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636008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5056632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77256" y="3950208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97880" y="3950208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5897880" y="3950208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168" name="Shape 166"/>
          <p:cNvSpPr/>
          <p:nvPr/>
        </p:nvSpPr>
        <p:spPr>
          <a:xfrm>
            <a:off x="6318504" y="3950208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39128" y="3950208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691640" y="4261104"/>
            <a:ext cx="420624" cy="310896"/>
          </a:xfrm>
          <a:prstGeom prst="rect">
            <a:avLst/>
          </a:prstGeom>
          <a:solidFill>
            <a:srgbClr val="2166AC"/>
          </a:solidFill>
          <a:ln w="1270">
            <a:solidFill>
              <a:srgbClr val="2166AC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691640" y="4261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-0.32</a:t>
            </a:r>
            <a:endParaRPr lang="en-US" sz="600" dirty="0"/>
          </a:p>
        </p:txBody>
      </p:sp>
      <p:sp>
        <p:nvSpPr>
          <p:cNvPr id="172" name="Shape 170"/>
          <p:cNvSpPr/>
          <p:nvPr/>
        </p:nvSpPr>
        <p:spPr>
          <a:xfrm>
            <a:off x="2112264" y="426110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112264" y="4261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600" dirty="0"/>
          </a:p>
        </p:txBody>
      </p:sp>
      <p:sp>
        <p:nvSpPr>
          <p:cNvPr id="174" name="Shape 172"/>
          <p:cNvSpPr/>
          <p:nvPr/>
        </p:nvSpPr>
        <p:spPr>
          <a:xfrm>
            <a:off x="2532888" y="426110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532888" y="4261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600" dirty="0"/>
          </a:p>
        </p:txBody>
      </p:sp>
      <p:sp>
        <p:nvSpPr>
          <p:cNvPr id="176" name="Shape 174"/>
          <p:cNvSpPr/>
          <p:nvPr/>
        </p:nvSpPr>
        <p:spPr>
          <a:xfrm>
            <a:off x="2953512" y="426110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374136" y="426110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794760" y="426110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215384" y="426110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636008" y="426110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5056632" y="4261104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5477256" y="4261104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897880" y="4261104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6318504" y="426110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318504" y="4261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186" name="Shape 184"/>
          <p:cNvSpPr/>
          <p:nvPr/>
        </p:nvSpPr>
        <p:spPr>
          <a:xfrm>
            <a:off x="6739128" y="4261104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6739128" y="4261104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600" dirty="0"/>
          </a:p>
        </p:txBody>
      </p:sp>
      <p:sp>
        <p:nvSpPr>
          <p:cNvPr id="188" name="Shape 186"/>
          <p:cNvSpPr/>
          <p:nvPr/>
        </p:nvSpPr>
        <p:spPr>
          <a:xfrm>
            <a:off x="1691640" y="4572000"/>
            <a:ext cx="420624" cy="310896"/>
          </a:xfrm>
          <a:prstGeom prst="rect">
            <a:avLst/>
          </a:prstGeom>
          <a:solidFill>
            <a:srgbClr val="4393C3"/>
          </a:solidFill>
          <a:ln w="1270">
            <a:solidFill>
              <a:srgbClr val="4393C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112264" y="4572000"/>
            <a:ext cx="420624" cy="310896"/>
          </a:xfrm>
          <a:prstGeom prst="rect">
            <a:avLst/>
          </a:prstGeom>
          <a:solidFill>
            <a:srgbClr val="A50026"/>
          </a:solidFill>
          <a:ln w="1270">
            <a:solidFill>
              <a:srgbClr val="A50026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112264" y="457200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</a:t>
            </a:r>
            <a:endParaRPr lang="en-US" sz="600" dirty="0"/>
          </a:p>
        </p:txBody>
      </p:sp>
      <p:sp>
        <p:nvSpPr>
          <p:cNvPr id="191" name="Shape 189"/>
          <p:cNvSpPr/>
          <p:nvPr/>
        </p:nvSpPr>
        <p:spPr>
          <a:xfrm>
            <a:off x="2532888" y="457200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2532888" y="457200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600" dirty="0"/>
          </a:p>
        </p:txBody>
      </p:sp>
      <p:sp>
        <p:nvSpPr>
          <p:cNvPr id="193" name="Shape 191"/>
          <p:cNvSpPr/>
          <p:nvPr/>
        </p:nvSpPr>
        <p:spPr>
          <a:xfrm>
            <a:off x="2953512" y="457200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374136" y="457200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794760" y="457200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215384" y="4572000"/>
            <a:ext cx="420624" cy="310896"/>
          </a:xfrm>
          <a:prstGeom prst="rect">
            <a:avLst/>
          </a:prstGeom>
          <a:solidFill>
            <a:srgbClr val="FEE08B"/>
          </a:solidFill>
          <a:ln w="1270">
            <a:solidFill>
              <a:srgbClr val="FEE08B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636008" y="4572000"/>
            <a:ext cx="420624" cy="310896"/>
          </a:xfrm>
          <a:prstGeom prst="rect">
            <a:avLst/>
          </a:prstGeom>
          <a:solidFill>
            <a:srgbClr val="A50026"/>
          </a:solidFill>
          <a:ln w="1270">
            <a:solidFill>
              <a:srgbClr val="A50026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636008" y="457200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600" dirty="0"/>
          </a:p>
        </p:txBody>
      </p:sp>
      <p:sp>
        <p:nvSpPr>
          <p:cNvPr id="199" name="Shape 197"/>
          <p:cNvSpPr/>
          <p:nvPr/>
        </p:nvSpPr>
        <p:spPr>
          <a:xfrm>
            <a:off x="5056632" y="4572000"/>
            <a:ext cx="420624" cy="310896"/>
          </a:xfrm>
          <a:prstGeom prst="rect">
            <a:avLst/>
          </a:prstGeom>
          <a:solidFill>
            <a:srgbClr val="E0F3F8"/>
          </a:solidFill>
          <a:ln w="1270">
            <a:solidFill>
              <a:srgbClr val="E0F3F8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5477256" y="4572000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897880" y="4572000"/>
            <a:ext cx="420624" cy="310896"/>
          </a:xfrm>
          <a:prstGeom prst="rect">
            <a:avLst/>
          </a:prstGeom>
          <a:solidFill>
            <a:srgbClr val="F46D43"/>
          </a:solidFill>
          <a:ln w="1270">
            <a:solidFill>
              <a:srgbClr val="F46D4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6318504" y="457200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318504" y="457200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600" dirty="0"/>
          </a:p>
        </p:txBody>
      </p:sp>
      <p:sp>
        <p:nvSpPr>
          <p:cNvPr id="204" name="Shape 202"/>
          <p:cNvSpPr/>
          <p:nvPr/>
        </p:nvSpPr>
        <p:spPr>
          <a:xfrm>
            <a:off x="6739128" y="4572000"/>
            <a:ext cx="420624" cy="310896"/>
          </a:xfrm>
          <a:prstGeom prst="rect">
            <a:avLst/>
          </a:prstGeom>
          <a:solidFill>
            <a:srgbClr val="67000D"/>
          </a:solidFill>
          <a:ln w="1270">
            <a:solidFill>
              <a:srgbClr val="67000D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6739128" y="4572000"/>
            <a:ext cx="420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600" dirty="0"/>
          </a:p>
        </p:txBody>
      </p:sp>
      <p:sp>
        <p:nvSpPr>
          <p:cNvPr id="206" name="Text 204"/>
          <p:cNvSpPr/>
          <p:nvPr/>
        </p:nvSpPr>
        <p:spPr>
          <a:xfrm>
            <a:off x="164592" y="84124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</a:t>
            </a:r>
            <a:endParaRPr lang="en-US" sz="750" dirty="0"/>
          </a:p>
        </p:txBody>
      </p:sp>
      <p:sp>
        <p:nvSpPr>
          <p:cNvPr id="207" name="Text 205"/>
          <p:cNvSpPr/>
          <p:nvPr/>
        </p:nvSpPr>
        <p:spPr>
          <a:xfrm rot="2700000">
            <a:off x="1691640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lead_time</a:t>
            </a:r>
            <a:endParaRPr lang="en-US" sz="650" dirty="0"/>
          </a:p>
        </p:txBody>
      </p:sp>
      <p:sp>
        <p:nvSpPr>
          <p:cNvPr id="208" name="Text 206"/>
          <p:cNvSpPr/>
          <p:nvPr/>
        </p:nvSpPr>
        <p:spPr>
          <a:xfrm>
            <a:off x="164592" y="1152144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stays_wknd</a:t>
            </a:r>
            <a:endParaRPr lang="en-US" sz="750" dirty="0"/>
          </a:p>
        </p:txBody>
      </p:sp>
      <p:sp>
        <p:nvSpPr>
          <p:cNvPr id="209" name="Text 207"/>
          <p:cNvSpPr/>
          <p:nvPr/>
        </p:nvSpPr>
        <p:spPr>
          <a:xfrm rot="2700000">
            <a:off x="2112264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stays_wknd</a:t>
            </a:r>
            <a:endParaRPr lang="en-US" sz="650" dirty="0"/>
          </a:p>
        </p:txBody>
      </p:sp>
      <p:sp>
        <p:nvSpPr>
          <p:cNvPr id="210" name="Text 208"/>
          <p:cNvSpPr/>
          <p:nvPr/>
        </p:nvSpPr>
        <p:spPr>
          <a:xfrm>
            <a:off x="164592" y="146304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stays_wk</a:t>
            </a:r>
            <a:endParaRPr lang="en-US" sz="750" dirty="0"/>
          </a:p>
        </p:txBody>
      </p:sp>
      <p:sp>
        <p:nvSpPr>
          <p:cNvPr id="211" name="Text 209"/>
          <p:cNvSpPr/>
          <p:nvPr/>
        </p:nvSpPr>
        <p:spPr>
          <a:xfrm rot="2700000">
            <a:off x="2532888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stays_wk</a:t>
            </a:r>
            <a:endParaRPr lang="en-US" sz="650" dirty="0"/>
          </a:p>
        </p:txBody>
      </p:sp>
      <p:sp>
        <p:nvSpPr>
          <p:cNvPr id="212" name="Text 210"/>
          <p:cNvSpPr/>
          <p:nvPr/>
        </p:nvSpPr>
        <p:spPr>
          <a:xfrm>
            <a:off x="164592" y="177393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750" dirty="0"/>
          </a:p>
        </p:txBody>
      </p:sp>
      <p:sp>
        <p:nvSpPr>
          <p:cNvPr id="213" name="Text 211"/>
          <p:cNvSpPr/>
          <p:nvPr/>
        </p:nvSpPr>
        <p:spPr>
          <a:xfrm rot="2700000">
            <a:off x="2953512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</a:t>
            </a:r>
            <a:endParaRPr lang="en-US" sz="650" dirty="0"/>
          </a:p>
        </p:txBody>
      </p:sp>
      <p:sp>
        <p:nvSpPr>
          <p:cNvPr id="214" name="Text 212"/>
          <p:cNvSpPr/>
          <p:nvPr/>
        </p:nvSpPr>
        <p:spPr>
          <a:xfrm>
            <a:off x="164592" y="208483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 rot="2700000">
            <a:off x="3374136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650" dirty="0"/>
          </a:p>
        </p:txBody>
      </p:sp>
      <p:sp>
        <p:nvSpPr>
          <p:cNvPr id="216" name="Text 214"/>
          <p:cNvSpPr/>
          <p:nvPr/>
        </p:nvSpPr>
        <p:spPr>
          <a:xfrm>
            <a:off x="164592" y="239572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prev_cancel</a:t>
            </a:r>
            <a:endParaRPr lang="en-US" sz="750" dirty="0"/>
          </a:p>
        </p:txBody>
      </p:sp>
      <p:sp>
        <p:nvSpPr>
          <p:cNvPr id="217" name="Text 215"/>
          <p:cNvSpPr/>
          <p:nvPr/>
        </p:nvSpPr>
        <p:spPr>
          <a:xfrm rot="2700000">
            <a:off x="3794760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prev_cancel</a:t>
            </a:r>
            <a:endParaRPr lang="en-US" sz="650" dirty="0"/>
          </a:p>
        </p:txBody>
      </p:sp>
      <p:sp>
        <p:nvSpPr>
          <p:cNvPr id="218" name="Text 216"/>
          <p:cNvSpPr/>
          <p:nvPr/>
        </p:nvSpPr>
        <p:spPr>
          <a:xfrm>
            <a:off x="164592" y="2706624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booking_chg</a:t>
            </a:r>
            <a:endParaRPr lang="en-US" sz="750" dirty="0"/>
          </a:p>
        </p:txBody>
      </p:sp>
      <p:sp>
        <p:nvSpPr>
          <p:cNvPr id="219" name="Text 217"/>
          <p:cNvSpPr/>
          <p:nvPr/>
        </p:nvSpPr>
        <p:spPr>
          <a:xfrm rot="2700000">
            <a:off x="4215384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booking_chg</a:t>
            </a:r>
            <a:endParaRPr lang="en-US" sz="650" dirty="0"/>
          </a:p>
        </p:txBody>
      </p:sp>
      <p:sp>
        <p:nvSpPr>
          <p:cNvPr id="220" name="Text 218"/>
          <p:cNvSpPr/>
          <p:nvPr/>
        </p:nvSpPr>
        <p:spPr>
          <a:xfrm>
            <a:off x="164592" y="301752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750" dirty="0"/>
          </a:p>
        </p:txBody>
      </p:sp>
      <p:sp>
        <p:nvSpPr>
          <p:cNvPr id="221" name="Text 219"/>
          <p:cNvSpPr/>
          <p:nvPr/>
        </p:nvSpPr>
        <p:spPr>
          <a:xfrm rot="2700000">
            <a:off x="4636008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650" dirty="0"/>
          </a:p>
        </p:txBody>
      </p:sp>
      <p:sp>
        <p:nvSpPr>
          <p:cNvPr id="222" name="Text 220"/>
          <p:cNvSpPr/>
          <p:nvPr/>
        </p:nvSpPr>
        <p:spPr>
          <a:xfrm>
            <a:off x="164592" y="3328416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750" dirty="0"/>
          </a:p>
        </p:txBody>
      </p:sp>
      <p:sp>
        <p:nvSpPr>
          <p:cNvPr id="223" name="Text 221"/>
          <p:cNvSpPr/>
          <p:nvPr/>
        </p:nvSpPr>
        <p:spPr>
          <a:xfrm rot="2700000">
            <a:off x="5056632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</a:t>
            </a:r>
            <a:endParaRPr lang="en-US" sz="650" dirty="0"/>
          </a:p>
        </p:txBody>
      </p:sp>
      <p:sp>
        <p:nvSpPr>
          <p:cNvPr id="224" name="Text 222"/>
          <p:cNvSpPr/>
          <p:nvPr/>
        </p:nvSpPr>
        <p:spPr>
          <a:xfrm>
            <a:off x="164592" y="3639312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spl_req</a:t>
            </a:r>
            <a:endParaRPr lang="en-US" sz="750" dirty="0"/>
          </a:p>
        </p:txBody>
      </p:sp>
      <p:sp>
        <p:nvSpPr>
          <p:cNvPr id="225" name="Text 223"/>
          <p:cNvSpPr/>
          <p:nvPr/>
        </p:nvSpPr>
        <p:spPr>
          <a:xfrm rot="2700000">
            <a:off x="5477256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spl_req</a:t>
            </a:r>
            <a:endParaRPr lang="en-US" sz="650" dirty="0"/>
          </a:p>
        </p:txBody>
      </p:sp>
      <p:sp>
        <p:nvSpPr>
          <p:cNvPr id="226" name="Text 224"/>
          <p:cNvSpPr/>
          <p:nvPr/>
        </p:nvSpPr>
        <p:spPr>
          <a:xfrm>
            <a:off x="164592" y="3950208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tot_guests</a:t>
            </a:r>
            <a:endParaRPr lang="en-US" sz="750" dirty="0"/>
          </a:p>
        </p:txBody>
      </p:sp>
      <p:sp>
        <p:nvSpPr>
          <p:cNvPr id="227" name="Text 225"/>
          <p:cNvSpPr/>
          <p:nvPr/>
        </p:nvSpPr>
        <p:spPr>
          <a:xfrm rot="2700000">
            <a:off x="5897880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tot_guests</a:t>
            </a:r>
            <a:endParaRPr lang="en-US" sz="650" dirty="0"/>
          </a:p>
        </p:txBody>
      </p:sp>
      <p:sp>
        <p:nvSpPr>
          <p:cNvPr id="228" name="Text 226"/>
          <p:cNvSpPr/>
          <p:nvPr/>
        </p:nvSpPr>
        <p:spPr>
          <a:xfrm>
            <a:off x="164592" y="4261104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tot_nights</a:t>
            </a:r>
            <a:endParaRPr lang="en-US" sz="750" dirty="0"/>
          </a:p>
        </p:txBody>
      </p:sp>
      <p:sp>
        <p:nvSpPr>
          <p:cNvPr id="229" name="Text 227"/>
          <p:cNvSpPr/>
          <p:nvPr/>
        </p:nvSpPr>
        <p:spPr>
          <a:xfrm rot="2700000">
            <a:off x="6318504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tot_nights</a:t>
            </a:r>
            <a:endParaRPr lang="en-US" sz="650" dirty="0"/>
          </a:p>
        </p:txBody>
      </p:sp>
      <p:sp>
        <p:nvSpPr>
          <p:cNvPr id="230" name="Text 228"/>
          <p:cNvSpPr/>
          <p:nvPr/>
        </p:nvSpPr>
        <p:spPr>
          <a:xfrm>
            <a:off x="164592" y="4572000"/>
            <a:ext cx="14813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231" name="Text 229"/>
          <p:cNvSpPr/>
          <p:nvPr/>
        </p:nvSpPr>
        <p:spPr>
          <a:xfrm rot="2700000">
            <a:off x="6739128" y="4901184"/>
            <a:ext cx="42062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50" dirty="0"/>
          </a:p>
        </p:txBody>
      </p:sp>
      <p:sp>
        <p:nvSpPr>
          <p:cNvPr id="232" name="Shape 230"/>
          <p:cNvSpPr/>
          <p:nvPr/>
        </p:nvSpPr>
        <p:spPr>
          <a:xfrm>
            <a:off x="164592" y="4828032"/>
            <a:ext cx="347472" cy="146304"/>
          </a:xfrm>
          <a:prstGeom prst="rect">
            <a:avLst/>
          </a:prstGeom>
          <a:solidFill>
            <a:srgbClr val="053061"/>
          </a:solidFill>
          <a:ln w="12700">
            <a:solidFill>
              <a:srgbClr val="053061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12064" y="4828032"/>
            <a:ext cx="347472" cy="146304"/>
          </a:xfrm>
          <a:prstGeom prst="rect">
            <a:avLst/>
          </a:prstGeom>
          <a:solidFill>
            <a:srgbClr val="2166AC"/>
          </a:solidFill>
          <a:ln w="12700">
            <a:solidFill>
              <a:srgbClr val="2166AC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859536" y="4828032"/>
            <a:ext cx="347472" cy="146304"/>
          </a:xfrm>
          <a:prstGeom prst="rect">
            <a:avLst/>
          </a:prstGeom>
          <a:solidFill>
            <a:srgbClr val="4393C3"/>
          </a:solidFill>
          <a:ln w="12700">
            <a:solidFill>
              <a:srgbClr val="4393C3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207008" y="4828032"/>
            <a:ext cx="347472" cy="146304"/>
          </a:xfrm>
          <a:prstGeom prst="rect">
            <a:avLst/>
          </a:prstGeom>
          <a:solidFill>
            <a:srgbClr val="E0F3F8"/>
          </a:solidFill>
          <a:ln w="12700">
            <a:solidFill>
              <a:srgbClr val="E0F3F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554480" y="4828032"/>
            <a:ext cx="347472" cy="146304"/>
          </a:xfrm>
          <a:prstGeom prst="rect">
            <a:avLst/>
          </a:prstGeom>
          <a:solidFill>
            <a:srgbClr val="FEE08B"/>
          </a:solidFill>
          <a:ln w="12700">
            <a:solidFill>
              <a:srgbClr val="FEE08B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901952" y="4828032"/>
            <a:ext cx="347472" cy="146304"/>
          </a:xfrm>
          <a:prstGeom prst="rect">
            <a:avLst/>
          </a:prstGeom>
          <a:solidFill>
            <a:srgbClr val="F46D43"/>
          </a:solidFill>
          <a:ln w="12700">
            <a:solidFill>
              <a:srgbClr val="F46D43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2249424" y="4828032"/>
            <a:ext cx="347472" cy="146304"/>
          </a:xfrm>
          <a:prstGeom prst="rect">
            <a:avLst/>
          </a:prstGeom>
          <a:solidFill>
            <a:srgbClr val="D73027"/>
          </a:solidFill>
          <a:ln w="12700">
            <a:solidFill>
              <a:srgbClr val="D73027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2596896" y="4828032"/>
            <a:ext cx="347472" cy="146304"/>
          </a:xfrm>
          <a:prstGeom prst="rect">
            <a:avLst/>
          </a:prstGeom>
          <a:solidFill>
            <a:srgbClr val="A50026"/>
          </a:solidFill>
          <a:ln w="12700">
            <a:solidFill>
              <a:srgbClr val="A50026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2944368" y="4828032"/>
            <a:ext cx="347472" cy="146304"/>
          </a:xfrm>
          <a:prstGeom prst="rect">
            <a:avLst/>
          </a:prstGeom>
          <a:solidFill>
            <a:srgbClr val="67000D"/>
          </a:solidFill>
          <a:ln w="12700">
            <a:solidFill>
              <a:srgbClr val="67000D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164592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</a:t>
            </a:r>
            <a:endParaRPr lang="en-US" sz="550" dirty="0"/>
          </a:p>
        </p:txBody>
      </p:sp>
      <p:sp>
        <p:nvSpPr>
          <p:cNvPr id="242" name="Text 240"/>
          <p:cNvSpPr/>
          <p:nvPr/>
        </p:nvSpPr>
        <p:spPr>
          <a:xfrm>
            <a:off x="512064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-0.75</a:t>
            </a:r>
            <a:endParaRPr lang="en-US" sz="550" dirty="0"/>
          </a:p>
        </p:txBody>
      </p:sp>
      <p:sp>
        <p:nvSpPr>
          <p:cNvPr id="243" name="Text 241"/>
          <p:cNvSpPr/>
          <p:nvPr/>
        </p:nvSpPr>
        <p:spPr>
          <a:xfrm>
            <a:off x="859536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50" dirty="0"/>
          </a:p>
        </p:txBody>
      </p:sp>
      <p:sp>
        <p:nvSpPr>
          <p:cNvPr id="244" name="Text 242"/>
          <p:cNvSpPr/>
          <p:nvPr/>
        </p:nvSpPr>
        <p:spPr>
          <a:xfrm>
            <a:off x="1207008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-0.25</a:t>
            </a:r>
            <a:endParaRPr lang="en-US" sz="550" dirty="0"/>
          </a:p>
        </p:txBody>
      </p:sp>
      <p:sp>
        <p:nvSpPr>
          <p:cNvPr id="245" name="Text 243"/>
          <p:cNvSpPr/>
          <p:nvPr/>
        </p:nvSpPr>
        <p:spPr>
          <a:xfrm>
            <a:off x="1554480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50" dirty="0"/>
          </a:p>
        </p:txBody>
      </p:sp>
      <p:sp>
        <p:nvSpPr>
          <p:cNvPr id="246" name="Text 244"/>
          <p:cNvSpPr/>
          <p:nvPr/>
        </p:nvSpPr>
        <p:spPr>
          <a:xfrm>
            <a:off x="1901952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</a:t>
            </a:r>
            <a:endParaRPr lang="en-US" sz="550" dirty="0"/>
          </a:p>
        </p:txBody>
      </p:sp>
      <p:sp>
        <p:nvSpPr>
          <p:cNvPr id="247" name="Text 245"/>
          <p:cNvSpPr/>
          <p:nvPr/>
        </p:nvSpPr>
        <p:spPr>
          <a:xfrm>
            <a:off x="2249424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</a:t>
            </a:r>
            <a:endParaRPr lang="en-US" sz="550" dirty="0"/>
          </a:p>
        </p:txBody>
      </p:sp>
      <p:sp>
        <p:nvSpPr>
          <p:cNvPr id="248" name="Text 246"/>
          <p:cNvSpPr/>
          <p:nvPr/>
        </p:nvSpPr>
        <p:spPr>
          <a:xfrm>
            <a:off x="2596896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+0.75</a:t>
            </a:r>
            <a:endParaRPr lang="en-US" sz="550" dirty="0"/>
          </a:p>
        </p:txBody>
      </p:sp>
      <p:sp>
        <p:nvSpPr>
          <p:cNvPr id="249" name="Text 247"/>
          <p:cNvSpPr/>
          <p:nvPr/>
        </p:nvSpPr>
        <p:spPr>
          <a:xfrm>
            <a:off x="2944368" y="4974336"/>
            <a:ext cx="34747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</a:t>
            </a:r>
            <a:endParaRPr lang="en-US" sz="550" dirty="0"/>
          </a:p>
        </p:txBody>
      </p:sp>
      <p:sp>
        <p:nvSpPr>
          <p:cNvPr id="250" name="Shape 248"/>
          <p:cNvSpPr/>
          <p:nvPr/>
        </p:nvSpPr>
        <p:spPr>
          <a:xfrm>
            <a:off x="5559552" y="841248"/>
            <a:ext cx="3337560" cy="148132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1" name="Text 249"/>
          <p:cNvSpPr/>
          <p:nvPr/>
        </p:nvSpPr>
        <p:spPr>
          <a:xfrm>
            <a:off x="5715000" y="9326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Correlations</a:t>
            </a:r>
            <a:endParaRPr lang="en-US" sz="1200" dirty="0"/>
          </a:p>
        </p:txBody>
      </p:sp>
      <p:sp>
        <p:nvSpPr>
          <p:cNvPr id="252" name="Text 250"/>
          <p:cNvSpPr/>
          <p:nvPr/>
        </p:nvSpPr>
        <p:spPr>
          <a:xfrm>
            <a:off x="5715000" y="1325880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total_nights ↔ stays_wk:  0.95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↔ adr:  0.57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total_nights ↔ revenue:  0.75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lead_time ↔ total_nights:  −0.32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Useful for ML feature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54864"/>
            <a:ext cx="530352" cy="530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841248"/>
            <a:ext cx="2743200" cy="1664208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393192" y="914400"/>
            <a:ext cx="530352" cy="5303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₹3.44 Cr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393192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93192" y="1737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87,229 bookings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3154680" y="841248"/>
            <a:ext cx="2743200" cy="1664208"/>
          </a:xfrm>
          <a:prstGeom prst="rect">
            <a:avLst/>
          </a:prstGeom>
          <a:solidFill>
            <a:srgbClr val="134E3A"/>
          </a:solidFill>
          <a:ln w="12700">
            <a:solidFill>
              <a:srgbClr val="134E3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3319272" y="914400"/>
            <a:ext cx="530352" cy="53035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3192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₹106.46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3319272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ADR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3319272" y="1737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rate per room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6080760" y="841248"/>
            <a:ext cx="2743200" cy="1664208"/>
          </a:xfrm>
          <a:prstGeom prst="rect">
            <a:avLst/>
          </a:prstGeom>
          <a:solidFill>
            <a:srgbClr val="2D1B69"/>
          </a:solidFill>
          <a:ln w="12700">
            <a:solidFill>
              <a:srgbClr val="2D1B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245352" y="914400"/>
            <a:ext cx="530352" cy="5303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58000" y="9144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3.63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6245352" y="15087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 (Nights)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245352" y="173736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duration/booking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1600200" y="2651760"/>
            <a:ext cx="2743200" cy="166420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>
            <a:alphaModFix amt="70000"/>
          </a:blip>
          <a:stretch>
            <a:fillRect/>
          </a:stretch>
        </p:blipFill>
        <p:spPr>
          <a:xfrm>
            <a:off x="1764792" y="2724912"/>
            <a:ext cx="530352" cy="53035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77440" y="27249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27.5%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1764792" y="3319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764792" y="35478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bookings cancelled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526280" y="2651760"/>
            <a:ext cx="2743200" cy="1664208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>
            <a:alphaModFix amt="70000"/>
          </a:blip>
          <a:stretch>
            <a:fillRect/>
          </a:stretch>
        </p:blipFill>
        <p:spPr>
          <a:xfrm>
            <a:off x="4690872" y="2724912"/>
            <a:ext cx="530352" cy="53035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303520" y="27249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3.86%</a:t>
            </a:r>
            <a:endParaRPr lang="en-US" sz="2200" dirty="0"/>
          </a:p>
        </p:txBody>
      </p:sp>
      <p:sp>
        <p:nvSpPr>
          <p:cNvPr id="28" name="Text 20"/>
          <p:cNvSpPr/>
          <p:nvPr/>
        </p:nvSpPr>
        <p:spPr>
          <a:xfrm>
            <a:off x="4690872" y="33192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Guests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4690872" y="35478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gap opportunity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228600" y="4462272"/>
            <a:ext cx="8686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3"/>
          <p:cNvSpPr/>
          <p:nvPr/>
        </p:nvSpPr>
        <p:spPr>
          <a:xfrm>
            <a:off x="365760" y="4507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Health Indicators: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365760" y="4617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Efficiency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365760" y="4791456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365760" y="4791456"/>
            <a:ext cx="1280800" cy="1645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2286000" y="4791456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66.7%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2560320" y="4617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Reliability</a:t>
            </a:r>
            <a:endParaRPr lang="en-US" sz="850" dirty="0"/>
          </a:p>
        </p:txBody>
      </p:sp>
      <p:sp>
        <p:nvSpPr>
          <p:cNvPr id="37" name="Shape 29"/>
          <p:cNvSpPr/>
          <p:nvPr/>
        </p:nvSpPr>
        <p:spPr>
          <a:xfrm>
            <a:off x="2560320" y="4791456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2560320" y="4791456"/>
            <a:ext cx="1392174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480560" y="4791456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4754880" y="4617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4754880" y="4791456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4754880" y="4791456"/>
            <a:ext cx="74889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6675120" y="4791456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6949440" y="46177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Rate</a:t>
            </a:r>
            <a:endParaRPr lang="en-US" sz="850" dirty="0"/>
          </a:p>
        </p:txBody>
      </p:sp>
      <p:sp>
        <p:nvSpPr>
          <p:cNvPr id="45" name="Shape 37"/>
          <p:cNvSpPr/>
          <p:nvPr/>
        </p:nvSpPr>
        <p:spPr>
          <a:xfrm>
            <a:off x="6949440" y="4791456"/>
            <a:ext cx="192024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6949440" y="4791456"/>
            <a:ext cx="1632204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869680" y="4791456"/>
            <a:ext cx="320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1993392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68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" y="21031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9184" y="240487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119,390 hotel bookings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249424" y="1783080"/>
            <a:ext cx="18288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32304" y="868680"/>
            <a:ext cx="1993392" cy="1920240"/>
          </a:xfrm>
          <a:prstGeom prst="rect">
            <a:avLst/>
          </a:prstGeom>
          <a:solidFill>
            <a:srgbClr val="2D1B69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32304" y="868680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432304" y="868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1371600"/>
            <a:ext cx="658368" cy="6583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05456" y="21031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05456" y="240487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deduplicate, nulls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425696" y="1783080"/>
            <a:ext cx="18288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08576" y="868680"/>
            <a:ext cx="1993392" cy="1920240"/>
          </a:xfrm>
          <a:prstGeom prst="rect">
            <a:avLst/>
          </a:prstGeom>
          <a:solidFill>
            <a:srgbClr val="0C4A6E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608576" y="868680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08576" y="868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1371600"/>
            <a:ext cx="658368" cy="6583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81728" y="21031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681728" y="240487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features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601968" y="1783080"/>
            <a:ext cx="18288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84848" y="868680"/>
            <a:ext cx="1993392" cy="1920240"/>
          </a:xfrm>
          <a:prstGeom prst="rect">
            <a:avLst/>
          </a:prstGeom>
          <a:solidFill>
            <a:srgbClr val="134E3A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84848" y="868680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784848" y="86868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11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3216" y="1371600"/>
            <a:ext cx="658368" cy="6583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2103120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858000" y="2404872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256032" y="2953512"/>
            <a:ext cx="1993392" cy="1920240"/>
          </a:xfrm>
          <a:prstGeom prst="rect">
            <a:avLst/>
          </a:prstGeom>
          <a:solidFill>
            <a:srgbClr val="451A03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256032" y="2953512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256032" y="29535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11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56432"/>
            <a:ext cx="658368" cy="65836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29184" y="41879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329184" y="4489704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2249424" y="3867912"/>
            <a:ext cx="18288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2432304" y="2953512"/>
            <a:ext cx="1993392" cy="1920240"/>
          </a:xfrm>
          <a:prstGeom prst="rect">
            <a:avLst/>
          </a:prstGeom>
          <a:solidFill>
            <a:srgbClr val="4C0519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2432304" y="2953512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2432304" y="29535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11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0672" y="3456432"/>
            <a:ext cx="658368" cy="65836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505456" y="41879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2505456" y="4489704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algorithms trained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4425696" y="3867912"/>
            <a:ext cx="18288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4608576" y="2953512"/>
            <a:ext cx="1993392" cy="1920240"/>
          </a:xfrm>
          <a:prstGeom prst="rect">
            <a:avLst/>
          </a:prstGeom>
          <a:solidFill>
            <a:srgbClr val="1A2E05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608576" y="2953512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4608576" y="29535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07</a:t>
            </a:r>
            <a:endParaRPr lang="en-US" sz="11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66944" y="3456432"/>
            <a:ext cx="658368" cy="65836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681728" y="41879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4681728" y="4489704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F1, ROC-AUC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6601968" y="3867912"/>
            <a:ext cx="18288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6784848" y="2953512"/>
            <a:ext cx="1993392" cy="1920240"/>
          </a:xfrm>
          <a:prstGeom prst="rect">
            <a:avLst/>
          </a:prstGeom>
          <a:solidFill>
            <a:srgbClr val="1C1917"/>
          </a:solidFill>
          <a:ln w="12700">
            <a:solidFill>
              <a:srgbClr val="2D374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6784848" y="2953512"/>
            <a:ext cx="1993392" cy="411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6784848" y="2953512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08</a:t>
            </a:r>
            <a:endParaRPr lang="en-US" sz="1100" dirty="0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3216" y="3456432"/>
            <a:ext cx="658368" cy="658368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858000" y="418795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57" name="Text 47"/>
          <p:cNvSpPr/>
          <p:nvPr/>
        </p:nvSpPr>
        <p:spPr>
          <a:xfrm>
            <a:off x="6858000" y="4489704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Canceled / Not Canceled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1993392" cy="4160520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1993392" cy="45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41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389888"/>
            <a:ext cx="658368" cy="6583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9184" y="21488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2670048"/>
            <a:ext cx="841248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670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79.81%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261872" y="2670048"/>
            <a:ext cx="877824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61872" y="2670048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9184" y="32461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Simple, fast, interpretable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9184" y="363931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Linear boundaries only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32304" y="841248"/>
            <a:ext cx="1993392" cy="4160520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32304" y="841248"/>
            <a:ext cx="199339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32304" y="841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816" y="1389888"/>
            <a:ext cx="658368" cy="6583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05456" y="21488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542032" y="2670048"/>
            <a:ext cx="84124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42032" y="2670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80.35%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38144" y="2670048"/>
            <a:ext cx="877824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38144" y="2670048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2505456" y="32461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Visual, easy to explain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2505456" y="363931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Prone to overfitting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08576" y="841248"/>
            <a:ext cx="1993392" cy="4160520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08576" y="841248"/>
            <a:ext cx="199339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08576" y="841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1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389888"/>
            <a:ext cx="658368" cy="6583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681728" y="21488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4718304" y="2670048"/>
            <a:ext cx="841248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18304" y="2670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84.88%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614416" y="2670048"/>
            <a:ext cx="877824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614416" y="2670048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4681728" y="32461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Robust, handles noise well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4681728" y="363931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Slower, less interpretable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784848" y="841248"/>
            <a:ext cx="1993392" cy="4160520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6784848" y="841248"/>
            <a:ext cx="199339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6784848" y="841248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</a:t>
            </a:r>
            <a:endParaRPr lang="en-US" sz="110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389888"/>
            <a:ext cx="658368" cy="65836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58000" y="214884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⭐</a:t>
            </a:r>
            <a:endParaRPr lang="en-US" sz="1050" dirty="0"/>
          </a:p>
        </p:txBody>
      </p:sp>
      <p:sp>
        <p:nvSpPr>
          <p:cNvPr id="42" name="Shape 36"/>
          <p:cNvSpPr/>
          <p:nvPr/>
        </p:nvSpPr>
        <p:spPr>
          <a:xfrm>
            <a:off x="6894576" y="2670048"/>
            <a:ext cx="841248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894576" y="2670048"/>
            <a:ext cx="8412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85.35%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7790688" y="2670048"/>
            <a:ext cx="877824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790688" y="2670048"/>
            <a:ext cx="87782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6858000" y="3246120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Best performance, regularized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6858000" y="3639312"/>
            <a:ext cx="184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More hyperparameters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28600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86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79.81%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395728"/>
          <a:ext cx="45720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Canceled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Canceled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841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5236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3560" y="15179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23560" y="24323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11625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1043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2480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2298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256032" y="3657600"/>
            <a:ext cx="8631936" cy="12618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19"/>
          <p:cNvSpPr/>
          <p:nvPr/>
        </p:nvSpPr>
        <p:spPr>
          <a:xfrm>
            <a:off x="411480" y="374904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Insight: Good baseline model — high precision for Non-Canceled (0.82). Lower recall for cancellations means it misses 52% of actual cancellations. Suitable as a simple interpretable baseline.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4453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Linear model using log-odds. Scaled inputs required via StandardScaler. max_iter=1000.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28600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86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80.35%</a:t>
            </a:r>
            <a:endParaRPr lang="en-US" sz="3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395728"/>
          <a:ext cx="45720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Canceled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Canceled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841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5236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3560" y="15179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23560" y="24323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10944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1724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1704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3074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256032" y="3657600"/>
            <a:ext cx="8631936" cy="12618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11480" y="374904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Overfitting Risk: Decision Tree achieves decent accuracy but has the lowest ROC-AUC (0.75) — poor probability calibration for borderline cases. Tends to memorize training data.</a:t>
            </a:r>
            <a:endParaRPr lang="en-US" sz="1050" dirty="0"/>
          </a:p>
        </p:txBody>
      </p:sp>
      <p:sp>
        <p:nvSpPr>
          <p:cNvPr id="7" name="Text 20"/>
          <p:cNvSpPr/>
          <p:nvPr/>
        </p:nvSpPr>
        <p:spPr>
          <a:xfrm>
            <a:off x="411480" y="4453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Binary tree splitting on Gini impurity. No scaling needed. Random state = 42.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286000" cy="1417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886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84.88%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395728"/>
          <a:ext cx="45720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Canceled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Canceled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841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7220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45236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623560" y="15179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Act:0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23560" y="24323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Act:1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11863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805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1832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2946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256032" y="3657600"/>
            <a:ext cx="8631936" cy="12618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11480" y="374904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Strong Performance: Random Forest achieves 84.88% accuracy with ROC-AUC of 0.91. Excellent precision (0.87) and recall (0.94) for non-canceled class. Feature importance available.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11480" y="4453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Ensemble of 100 decision trees. Bagging + feature randomness reduces overfitting. Random state = 42.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XGBOOST — BEST MODEL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9144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6032" y="841248"/>
            <a:ext cx="22860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56032" y="886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56032" y="1170432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85.35%</a:t>
            </a:r>
            <a:endParaRPr lang="en-US" sz="3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2395728"/>
          <a:ext cx="4572000" cy="10972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Canceled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Canceled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623560" y="8412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17220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0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452360" y="11704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Pred: 1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23560" y="15179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Act:0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623560" y="2432304"/>
            <a:ext cx="53035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Act:1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17220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11588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452360" y="14630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17220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1476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452360" y="2377440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3302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256032" y="3657600"/>
            <a:ext cx="8631936" cy="1261872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411480" y="374904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Champion Model! XGBoost achieves 85.35% accuracy and ROC-AUC of 0.92 — best of all models. Gradient boosting sequentially corrects errors. Handles imbalanced classes with L1/L2 regularization.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11480" y="445312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XGBClassifier | eval_metric='logloss' | Gradient boosted decision trees with L1/L2 regularization.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COMPARISON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841248"/>
          <a:ext cx="5394960" cy="2578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41248"/>
            <a:ext cx="3090672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61888" y="93268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Summary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61888" y="1389888"/>
            <a:ext cx="64008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08192" y="1389888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36992" y="1389888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79.81%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61888" y="1865376"/>
            <a:ext cx="64008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08192" y="186537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936992" y="1865376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80.35%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61888" y="2340864"/>
            <a:ext cx="64008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08192" y="2340864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936992" y="2340864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84.88%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61888" y="2816352"/>
            <a:ext cx="64008" cy="3200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08192" y="281635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🏆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936992" y="2816352"/>
            <a:ext cx="804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85.35%</a:t>
            </a:r>
            <a:endParaRPr lang="en-US" sz="11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256032" y="3547872"/>
          <a:ext cx="28346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0" name="Chart 2"/>
          <p:cNvGraphicFramePr/>
          <p:nvPr/>
        </p:nvGraphicFramePr>
        <p:xfrm>
          <a:off x="3182112" y="3547872"/>
          <a:ext cx="28346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3"/>
          <p:cNvGraphicFramePr/>
          <p:nvPr/>
        </p:nvGraphicFramePr>
        <p:xfrm>
          <a:off x="6108192" y="3547872"/>
          <a:ext cx="283464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CURVE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841248"/>
          <a:ext cx="566928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72200" y="841248"/>
            <a:ext cx="2743200" cy="84124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896112"/>
            <a:ext cx="804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50608" y="98755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847088"/>
            <a:ext cx="2743200" cy="84124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901952"/>
            <a:ext cx="804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150608" y="19933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2852928"/>
            <a:ext cx="2743200" cy="84124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2907792"/>
            <a:ext cx="804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150608" y="299923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3858768"/>
            <a:ext cx="2743200" cy="841248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3913632"/>
            <a:ext cx="804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150608" y="40050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4864608"/>
            <a:ext cx="2743200" cy="274320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489204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models (XGBoost, RF) vastly outperform single models.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56032" y="841248"/>
          <a:ext cx="5120640" cy="40416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59552" y="841248"/>
            <a:ext cx="3337560" cy="713232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59552" y="841248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87568" y="8961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lead_time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87568" y="117043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before arrival → #1 predictor of cancellation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559552" y="1682496"/>
            <a:ext cx="3337560" cy="713232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9552" y="1682496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87568" y="1737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87568" y="20116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revenue bookings → lower cancel risk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59552" y="2523744"/>
            <a:ext cx="3337560" cy="713232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59552" y="2523744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87568" y="257860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87568" y="28529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rate correlates with booking commitment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59552" y="3364992"/>
            <a:ext cx="3337560" cy="713232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59552" y="3364992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87568" y="341985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total_special_requests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87568" y="369417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requests = higher engagement = lower risk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559552" y="4206240"/>
            <a:ext cx="3337560" cy="713232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59552" y="4206240"/>
            <a:ext cx="54864" cy="7132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87568" y="426110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arrival_day_of_month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687568" y="453542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patterns exist in cancellation behaviour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PREDICTION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3886200" cy="41879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4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41248"/>
            <a:ext cx="3886200" cy="38404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5953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Booking Details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316736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53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04288" y="13533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1664208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007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04288" y="17007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4048" y="2011680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048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04288" y="20482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₹142.50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2359152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39572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Nights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304288" y="23957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nights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84048" y="2706624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7432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Type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04288" y="274320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Deposit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4048" y="3054096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09067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Requests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304288" y="3090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048" y="3401568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43814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304288" y="34381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84048" y="3749040"/>
            <a:ext cx="3639312" cy="310896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7856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Guest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304288" y="378561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24528" y="2761488"/>
            <a:ext cx="594360" cy="914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3088" y="2514600"/>
            <a:ext cx="777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4096512" y="3090672"/>
            <a:ext cx="896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4206240" y="3621024"/>
            <a:ext cx="640080" cy="64008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5001768" y="841248"/>
            <a:ext cx="3886200" cy="4187952"/>
          </a:xfrm>
          <a:prstGeom prst="rect">
            <a:avLst/>
          </a:prstGeom>
          <a:solidFill>
            <a:srgbClr val="1E2D40"/>
          </a:solidFill>
          <a:ln w="12700">
            <a:solidFill>
              <a:srgbClr val="2D4A6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001768" y="841248"/>
            <a:ext cx="3886200" cy="384048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093208" y="859536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Prediction Result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5230368" y="1353312"/>
            <a:ext cx="3493008" cy="1115568"/>
          </a:xfrm>
          <a:prstGeom prst="rect">
            <a:avLst/>
          </a:prstGeom>
          <a:solidFill>
            <a:srgbClr val="4A0E0E"/>
          </a:solidFill>
          <a:ln w="12700">
            <a:solidFill>
              <a:srgbClr val="DC262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5230368" y="1399032"/>
            <a:ext cx="34930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RISK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5230368" y="179222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CANCELLATION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5230368" y="2578608"/>
            <a:ext cx="3493008" cy="658368"/>
          </a:xfrm>
          <a:prstGeom prst="rect">
            <a:avLst/>
          </a:prstGeom>
          <a:solidFill>
            <a:srgbClr val="243050"/>
          </a:solidFill>
          <a:ln w="12700">
            <a:solidFill>
              <a:srgbClr val="2D3E6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21808" y="26700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Probability: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452360" y="262432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400" dirty="0"/>
          </a:p>
        </p:txBody>
      </p:sp>
      <p:sp>
        <p:nvSpPr>
          <p:cNvPr id="44" name="Shape 41"/>
          <p:cNvSpPr/>
          <p:nvPr/>
        </p:nvSpPr>
        <p:spPr>
          <a:xfrm>
            <a:off x="5230368" y="3364992"/>
            <a:ext cx="3493008" cy="429768"/>
          </a:xfrm>
          <a:prstGeom prst="rect">
            <a:avLst/>
          </a:prstGeom>
          <a:solidFill>
            <a:srgbClr val="1A3A1A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321808" y="3401568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Send re-confirmation email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5230368" y="3877056"/>
            <a:ext cx="3493008" cy="429768"/>
          </a:xfrm>
          <a:prstGeom prst="rect">
            <a:avLst/>
          </a:prstGeom>
          <a:solidFill>
            <a:srgbClr val="1A3A1A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21808" y="3913632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Request partial deposit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5230368" y="4389120"/>
            <a:ext cx="3493008" cy="429768"/>
          </a:xfrm>
          <a:prstGeom prst="rect">
            <a:avLst/>
          </a:prstGeom>
          <a:solidFill>
            <a:srgbClr val="1A3A1A"/>
          </a:solidFill>
          <a:ln w="12700">
            <a:solidFill>
              <a:srgbClr val="2D6B2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321808" y="4425696"/>
            <a:ext cx="33101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Assign to overbooking buffer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2743200" cy="184708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41248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41248"/>
            <a:ext cx="457200" cy="18470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5544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0058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15270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Deposit Strategy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95528" y="1920240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deposits based on ML risk score — high-risk customers pay 25–50% upfront.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54680" y="841248"/>
            <a:ext cx="2743200" cy="18470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841248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841248"/>
            <a:ext cx="457200" cy="18470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15544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1608" y="100584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21608" y="15270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721608" y="1920240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room rates based on seasonal demand, lead time, and cancellation risk.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080760" y="841248"/>
            <a:ext cx="2743200" cy="184708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841248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80760" y="841248"/>
            <a:ext cx="457200" cy="18470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080760" y="155448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0058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47688" y="1527048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647688" y="1920240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96% new guests to repeat customers with rewards and personalized offers.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28600" y="2871216"/>
            <a:ext cx="2743200" cy="184708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28600" y="2871216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228600" y="2871216"/>
            <a:ext cx="457200" cy="18470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28600" y="35844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035808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95528" y="35570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Outreach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95528" y="3950208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emails/SMS for high-risk bookings to re-confirm and upsell add-ons.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154680" y="2871216"/>
            <a:ext cx="2743200" cy="18470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154680" y="2871216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154680" y="2871216"/>
            <a:ext cx="457200" cy="18470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154680" y="35844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1608" y="3035808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721608" y="35570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Scoring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3721608" y="3950208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booking gets a real-time 0–100 cancellation risk score using XGBoost.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6080760" y="2871216"/>
            <a:ext cx="2743200" cy="1847088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080760" y="2871216"/>
            <a:ext cx="27432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080760" y="2871216"/>
            <a:ext cx="457200" cy="18470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6080760" y="35844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035808"/>
            <a:ext cx="457200" cy="45720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647688" y="3557016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Overbooking Optimization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647688" y="3950208"/>
            <a:ext cx="2057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 predictions to intelligently overbook during high-cancellation periods.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56032" y="868680"/>
            <a:ext cx="4160520" cy="1874520"/>
          </a:xfrm>
          <a:prstGeom prst="rect">
            <a:avLst/>
          </a:prstGeom>
          <a:solidFill>
            <a:srgbClr val="2A1F00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868680"/>
            <a:ext cx="4160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06984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0698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0704" y="1463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Wins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3192" y="187452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85.35% accuracy and ROC-AUC of 0.92 — strongest cancellation predictor among all 4 models.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18304" y="868680"/>
            <a:ext cx="4160520" cy="1874520"/>
          </a:xfrm>
          <a:prstGeom prst="rect">
            <a:avLst/>
          </a:prstGeom>
          <a:solidFill>
            <a:srgbClr val="0C2640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18304" y="868680"/>
            <a:ext cx="4160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069848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22976" y="10698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22976" y="14630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55464" y="187452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models predict cancellations above 79% accuracy — ML is viable for hotel revenue management.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56032" y="2926080"/>
            <a:ext cx="4160520" cy="1874520"/>
          </a:xfrm>
          <a:prstGeom prst="rect">
            <a:avLst/>
          </a:prstGeom>
          <a:solidFill>
            <a:srgbClr val="0A2918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56032" y="2926080"/>
            <a:ext cx="4160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3127248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0704" y="31272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060704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93192" y="393192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 enable hotels to recover a significant portion of the 33% currently lost revenue.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18304" y="2926080"/>
            <a:ext cx="4160520" cy="1874520"/>
          </a:xfrm>
          <a:prstGeom prst="rect">
            <a:avLst/>
          </a:prstGeom>
          <a:solidFill>
            <a:srgbClr val="280A40"/>
          </a:solidFill>
          <a:ln w="12700">
            <a:solidFill>
              <a:srgbClr val="C9A84C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18304" y="2926080"/>
            <a:ext cx="416052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127248"/>
            <a:ext cx="566928" cy="56692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22976" y="3127248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522976" y="3520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Ops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4855464" y="3931920"/>
            <a:ext cx="3886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shift from reactive management to proactive, AI-driven strategies for occupancy and pricing.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56032" y="4864608"/>
            <a:ext cx="8631936" cy="256032"/>
          </a:xfrm>
          <a:prstGeom prst="rect">
            <a:avLst/>
          </a:prstGeom>
          <a:solidFill>
            <a:srgbClr val="1A2340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411480" y="489204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 Accuracy 85.35%  |  ROC-AUC 0.92  |  Revenue Loss Identified 33.3%  |  Dataset: 119,390 records  |  4 ML Models Compared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2743200" cy="1847088"/>
          </a:xfrm>
          <a:prstGeom prst="rect">
            <a:avLst/>
          </a:prstGeom>
          <a:solidFill>
            <a:srgbClr val="FED7AA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468880" y="978408"/>
            <a:ext cx="365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468880" y="978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42416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709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21031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XGBoost as REST API — integrate with hotel PMS for live cancellation scoring on every booking.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841248"/>
            <a:ext cx="2743200" cy="1847088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978408"/>
            <a:ext cx="365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978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042416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1709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37560" y="21031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LSTM/Transformer networks to capture complex temporal patterns in booking sequences.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841248"/>
            <a:ext cx="2743200" cy="1847088"/>
          </a:xfrm>
          <a:prstGeom prst="rect">
            <a:avLst/>
          </a:prstGeom>
          <a:solidFill>
            <a:srgbClr val="CFFAFE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21040" y="978408"/>
            <a:ext cx="365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21040" y="978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042416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63640" y="17099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AI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263640" y="2103120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clustering to identify distinct guest profiles for hyper-personalized marketing.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28600" y="2871216"/>
            <a:ext cx="2743200" cy="1847088"/>
          </a:xfrm>
          <a:prstGeom prst="rect">
            <a:avLst/>
          </a:prstGeom>
          <a:solidFill>
            <a:srgbClr val="D1FAE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468880" y="3008376"/>
            <a:ext cx="365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468880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72384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11480" y="37398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411480" y="413308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to optimize room pricing in real-time based on demand forecasts.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154680" y="2871216"/>
            <a:ext cx="2743200" cy="1847088"/>
          </a:xfrm>
          <a:prstGeom prst="rect">
            <a:avLst/>
          </a:prstGeom>
          <a:solidFill>
            <a:srgbClr val="F5E6B5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394960" y="3008376"/>
            <a:ext cx="365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394960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072384"/>
            <a:ext cx="594360" cy="5943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37560" y="37398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Dashboard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3337560" y="413308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BI dashboard on AWS/Azure with real-time KPI monitoring and alert system.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080760" y="2871216"/>
            <a:ext cx="2743200" cy="1847088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21040" y="3008376"/>
            <a:ext cx="36576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321040" y="3008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3072384"/>
            <a:ext cx="594360" cy="59436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263640" y="37398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Prediction App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6263640" y="4133088"/>
            <a:ext cx="2423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Staff-facing mobile app with instant risk assessment for every booking at the check-in desk.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82880"/>
            <a:ext cx="3977640" cy="4828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365760"/>
            <a:ext cx="1371600" cy="1783080"/>
          </a:xfrm>
          <a:prstGeom prst="rect">
            <a:avLst/>
          </a:prstGeom>
          <a:solidFill>
            <a:srgbClr val="162035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237744"/>
            <a:ext cx="1627632" cy="1645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502920"/>
            <a:ext cx="3474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502920"/>
            <a:ext cx="3474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17320" y="978408"/>
            <a:ext cx="3474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978408"/>
            <a:ext cx="3474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1453896"/>
            <a:ext cx="3474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1453896"/>
            <a:ext cx="347472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64208" y="1719072"/>
            <a:ext cx="365760" cy="4297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67712"/>
            <a:ext cx="292608" cy="292608"/>
          </a:xfrm>
          <a:prstGeom prst="rect">
            <a:avLst/>
          </a:prstGeom>
        </p:spPr>
      </p:pic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2267712"/>
            <a:ext cx="292608" cy="292608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67712"/>
            <a:ext cx="292608" cy="292608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2267712"/>
            <a:ext cx="292608" cy="292608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26771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82880" y="265176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182880" y="3090672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Prediction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182880" y="3456432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Revenue Optimization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82880" y="374904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160520" y="18288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6400" dirty="0"/>
          </a:p>
        </p:txBody>
      </p:sp>
      <p:sp>
        <p:nvSpPr>
          <p:cNvPr id="24" name="Text 17"/>
          <p:cNvSpPr/>
          <p:nvPr/>
        </p:nvSpPr>
        <p:spPr>
          <a:xfrm>
            <a:off x="4160520" y="10515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6400" dirty="0"/>
          </a:p>
        </p:txBody>
      </p:sp>
      <p:sp>
        <p:nvSpPr>
          <p:cNvPr id="25" name="Text 18"/>
          <p:cNvSpPr/>
          <p:nvPr/>
        </p:nvSpPr>
        <p:spPr>
          <a:xfrm>
            <a:off x="4160520" y="208483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160520" y="2487168"/>
            <a:ext cx="47091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160520" y="2606040"/>
            <a:ext cx="4709160" cy="475488"/>
          </a:xfrm>
          <a:prstGeom prst="rect">
            <a:avLst/>
          </a:prstGeom>
          <a:solidFill>
            <a:srgbClr val="1E2D40"/>
          </a:solidFill>
          <a:ln w="12700">
            <a:solidFill>
              <a:srgbClr val="2D4A6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Text 21"/>
          <p:cNvSpPr/>
          <p:nvPr/>
        </p:nvSpPr>
        <p:spPr>
          <a:xfrm>
            <a:off x="4279392" y="267004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Email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504688" y="267004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dhruvbhatia394@gmail.com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160520" y="3172968"/>
            <a:ext cx="4709160" cy="475488"/>
          </a:xfrm>
          <a:prstGeom prst="rect">
            <a:avLst/>
          </a:prstGeom>
          <a:solidFill>
            <a:srgbClr val="1E2D40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279392" y="32369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Project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504688" y="323697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Capstone Project — 2026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4160520" y="3739896"/>
            <a:ext cx="4709160" cy="475488"/>
          </a:xfrm>
          <a:prstGeom prst="rect">
            <a:avLst/>
          </a:prstGeom>
          <a:solidFill>
            <a:srgbClr val="1E2D40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79392" y="38039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Dataset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504688" y="38039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Demand (Kaggle)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160520" y="4315968"/>
            <a:ext cx="1481328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160520" y="43434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85.35%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160520" y="4636008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</a:t>
            </a:r>
            <a:endParaRPr lang="en-US" sz="800" dirty="0"/>
          </a:p>
        </p:txBody>
      </p:sp>
      <p:sp>
        <p:nvSpPr>
          <p:cNvPr id="39" name="Shape 32"/>
          <p:cNvSpPr/>
          <p:nvPr/>
        </p:nvSpPr>
        <p:spPr>
          <a:xfrm>
            <a:off x="5760720" y="4315968"/>
            <a:ext cx="1481328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760720" y="43434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5760720" y="4636008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800" dirty="0"/>
          </a:p>
        </p:txBody>
      </p:sp>
      <p:sp>
        <p:nvSpPr>
          <p:cNvPr id="42" name="Shape 35"/>
          <p:cNvSpPr/>
          <p:nvPr/>
        </p:nvSpPr>
        <p:spPr>
          <a:xfrm>
            <a:off x="7360920" y="4315968"/>
            <a:ext cx="1481328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360920" y="434340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119K</a:t>
            </a:r>
            <a:endParaRPr lang="en-US" sz="1500" dirty="0"/>
          </a:p>
        </p:txBody>
      </p:sp>
      <p:sp>
        <p:nvSpPr>
          <p:cNvPr id="44" name="Text 37"/>
          <p:cNvSpPr/>
          <p:nvPr/>
        </p:nvSpPr>
        <p:spPr>
          <a:xfrm>
            <a:off x="7360920" y="4636008"/>
            <a:ext cx="14813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2408</Words>
  <Application>Microsoft Office PowerPoint</Application>
  <PresentationFormat>On-screen Show (16:9)</PresentationFormat>
  <Paragraphs>660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Dhruv bhatia</cp:lastModifiedBy>
  <cp:revision>2</cp:revision>
  <dcterms:created xsi:type="dcterms:W3CDTF">2026-06-08T07:23:40Z</dcterms:created>
  <dcterms:modified xsi:type="dcterms:W3CDTF">2026-06-08T09:08:53Z</dcterms:modified>
</cp:coreProperties>
</file>